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8" r:id="rId2"/>
    <p:sldId id="259" r:id="rId3"/>
    <p:sldId id="275" r:id="rId4"/>
    <p:sldId id="273" r:id="rId5"/>
    <p:sldId id="260" r:id="rId6"/>
    <p:sldId id="261" r:id="rId7"/>
    <p:sldId id="262" r:id="rId8"/>
    <p:sldId id="263" r:id="rId9"/>
    <p:sldId id="264" r:id="rId10"/>
    <p:sldId id="266" r:id="rId11"/>
    <p:sldId id="265" r:id="rId12"/>
    <p:sldId id="281" r:id="rId13"/>
    <p:sldId id="282" r:id="rId14"/>
    <p:sldId id="267" r:id="rId15"/>
    <p:sldId id="268" r:id="rId16"/>
    <p:sldId id="269" r:id="rId17"/>
    <p:sldId id="270" r:id="rId18"/>
    <p:sldId id="283" r:id="rId19"/>
    <p:sldId id="271" r:id="rId20"/>
    <p:sldId id="278" r:id="rId21"/>
    <p:sldId id="279" r:id="rId22"/>
    <p:sldId id="280" r:id="rId23"/>
    <p:sldId id="284" r:id="rId24"/>
    <p:sldId id="285" r:id="rId25"/>
    <p:sldId id="286" r:id="rId26"/>
    <p:sldId id="272" r:id="rId27"/>
    <p:sldId id="274"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anjaysheshagiri9@gmail.com" initials="" lastIdx="1" clrIdx="0">
    <p:extLst>
      <p:ext uri="{19B8F6BF-5375-455C-9EA6-DF929625EA0E}">
        <p15:presenceInfo xmlns:p15="http://schemas.microsoft.com/office/powerpoint/2012/main" userId="fad49b7ab3c49d4a"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651" autoAdjust="0"/>
    <p:restoredTop sz="94132" autoAdjust="0"/>
  </p:normalViewPr>
  <p:slideViewPr>
    <p:cSldViewPr snapToGrid="0">
      <p:cViewPr varScale="1">
        <p:scale>
          <a:sx n="81" d="100"/>
          <a:sy n="81" d="100"/>
        </p:scale>
        <p:origin x="211"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B21F20-CE2D-E1C9-0A98-7D8E6B1F46B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FBA57E9F-8F1B-4897-106B-2FE6EEAE809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DC1A5AE3-579D-D897-F2D6-8522E36851FF}"/>
              </a:ext>
            </a:extLst>
          </p:cNvPr>
          <p:cNvSpPr>
            <a:spLocks noGrp="1"/>
          </p:cNvSpPr>
          <p:nvPr>
            <p:ph type="dt" sz="half" idx="10"/>
          </p:nvPr>
        </p:nvSpPr>
        <p:spPr/>
        <p:txBody>
          <a:bodyPr/>
          <a:lstStyle/>
          <a:p>
            <a:fld id="{7248332B-7E29-40FA-9366-7CCA5FA5E2DC}" type="datetimeFigureOut">
              <a:rPr lang="en-IN" smtClean="0"/>
              <a:t>04-12-2025</a:t>
            </a:fld>
            <a:endParaRPr lang="en-IN"/>
          </a:p>
        </p:txBody>
      </p:sp>
      <p:sp>
        <p:nvSpPr>
          <p:cNvPr id="5" name="Footer Placeholder 4">
            <a:extLst>
              <a:ext uri="{FF2B5EF4-FFF2-40B4-BE49-F238E27FC236}">
                <a16:creationId xmlns:a16="http://schemas.microsoft.com/office/drawing/2014/main" id="{D7F3E478-BE1E-3DCF-8EB3-3040BDE1520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16A574C-A413-3015-3652-6C94B4647B76}"/>
              </a:ext>
            </a:extLst>
          </p:cNvPr>
          <p:cNvSpPr>
            <a:spLocks noGrp="1"/>
          </p:cNvSpPr>
          <p:nvPr>
            <p:ph type="sldNum" sz="quarter" idx="12"/>
          </p:nvPr>
        </p:nvSpPr>
        <p:spPr/>
        <p:txBody>
          <a:bodyPr/>
          <a:lstStyle/>
          <a:p>
            <a:fld id="{71522628-55CE-43FF-8C01-0BB09E97785A}" type="slidenum">
              <a:rPr lang="en-IN" smtClean="0"/>
              <a:t>‹#›</a:t>
            </a:fld>
            <a:endParaRPr lang="en-IN"/>
          </a:p>
        </p:txBody>
      </p:sp>
    </p:spTree>
    <p:extLst>
      <p:ext uri="{BB962C8B-B14F-4D97-AF65-F5344CB8AC3E}">
        <p14:creationId xmlns:p14="http://schemas.microsoft.com/office/powerpoint/2010/main" val="22000054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03F3B2-A84A-6508-0B6C-B64E41BD726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2F541BA-ABBD-31FE-43CA-E9B2CEA69CF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B2BFB78-44AF-F595-95E2-E32E78EBBE21}"/>
              </a:ext>
            </a:extLst>
          </p:cNvPr>
          <p:cNvSpPr>
            <a:spLocks noGrp="1"/>
          </p:cNvSpPr>
          <p:nvPr>
            <p:ph type="dt" sz="half" idx="10"/>
          </p:nvPr>
        </p:nvSpPr>
        <p:spPr/>
        <p:txBody>
          <a:bodyPr/>
          <a:lstStyle/>
          <a:p>
            <a:fld id="{7248332B-7E29-40FA-9366-7CCA5FA5E2DC}" type="datetimeFigureOut">
              <a:rPr lang="en-IN" smtClean="0"/>
              <a:t>04-12-2025</a:t>
            </a:fld>
            <a:endParaRPr lang="en-IN"/>
          </a:p>
        </p:txBody>
      </p:sp>
      <p:sp>
        <p:nvSpPr>
          <p:cNvPr id="5" name="Footer Placeholder 4">
            <a:extLst>
              <a:ext uri="{FF2B5EF4-FFF2-40B4-BE49-F238E27FC236}">
                <a16:creationId xmlns:a16="http://schemas.microsoft.com/office/drawing/2014/main" id="{B5C19428-4968-04EC-A083-8CD1D3EA193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5EDB9F5-1B4E-5373-497B-66C6150AF65B}"/>
              </a:ext>
            </a:extLst>
          </p:cNvPr>
          <p:cNvSpPr>
            <a:spLocks noGrp="1"/>
          </p:cNvSpPr>
          <p:nvPr>
            <p:ph type="sldNum" sz="quarter" idx="12"/>
          </p:nvPr>
        </p:nvSpPr>
        <p:spPr/>
        <p:txBody>
          <a:bodyPr/>
          <a:lstStyle/>
          <a:p>
            <a:fld id="{71522628-55CE-43FF-8C01-0BB09E97785A}" type="slidenum">
              <a:rPr lang="en-IN" smtClean="0"/>
              <a:t>‹#›</a:t>
            </a:fld>
            <a:endParaRPr lang="en-IN"/>
          </a:p>
        </p:txBody>
      </p:sp>
    </p:spTree>
    <p:extLst>
      <p:ext uri="{BB962C8B-B14F-4D97-AF65-F5344CB8AC3E}">
        <p14:creationId xmlns:p14="http://schemas.microsoft.com/office/powerpoint/2010/main" val="17215392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5209B4-4F72-D868-F1AC-30473248956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DE3071C7-AE0D-640C-ABE3-064070713E3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518B87B-38E3-A86F-4CDD-0DCF94FBDB2D}"/>
              </a:ext>
            </a:extLst>
          </p:cNvPr>
          <p:cNvSpPr>
            <a:spLocks noGrp="1"/>
          </p:cNvSpPr>
          <p:nvPr>
            <p:ph type="dt" sz="half" idx="10"/>
          </p:nvPr>
        </p:nvSpPr>
        <p:spPr/>
        <p:txBody>
          <a:bodyPr/>
          <a:lstStyle/>
          <a:p>
            <a:fld id="{7248332B-7E29-40FA-9366-7CCA5FA5E2DC}" type="datetimeFigureOut">
              <a:rPr lang="en-IN" smtClean="0"/>
              <a:t>04-12-2025</a:t>
            </a:fld>
            <a:endParaRPr lang="en-IN"/>
          </a:p>
        </p:txBody>
      </p:sp>
      <p:sp>
        <p:nvSpPr>
          <p:cNvPr id="5" name="Footer Placeholder 4">
            <a:extLst>
              <a:ext uri="{FF2B5EF4-FFF2-40B4-BE49-F238E27FC236}">
                <a16:creationId xmlns:a16="http://schemas.microsoft.com/office/drawing/2014/main" id="{FFA0FD9E-3CCF-CF08-5752-48319085E66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239A7E9-3634-21F1-7058-C26D5E5E9300}"/>
              </a:ext>
            </a:extLst>
          </p:cNvPr>
          <p:cNvSpPr>
            <a:spLocks noGrp="1"/>
          </p:cNvSpPr>
          <p:nvPr>
            <p:ph type="sldNum" sz="quarter" idx="12"/>
          </p:nvPr>
        </p:nvSpPr>
        <p:spPr/>
        <p:txBody>
          <a:bodyPr/>
          <a:lstStyle/>
          <a:p>
            <a:fld id="{71522628-55CE-43FF-8C01-0BB09E97785A}" type="slidenum">
              <a:rPr lang="en-IN" smtClean="0"/>
              <a:t>‹#›</a:t>
            </a:fld>
            <a:endParaRPr lang="en-IN"/>
          </a:p>
        </p:txBody>
      </p:sp>
    </p:spTree>
    <p:extLst>
      <p:ext uri="{BB962C8B-B14F-4D97-AF65-F5344CB8AC3E}">
        <p14:creationId xmlns:p14="http://schemas.microsoft.com/office/powerpoint/2010/main" val="29078312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6455EC-81CC-272B-CA5D-E362917D7C6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5EDFCFE-6D2C-AAC1-0CD5-8A02E090F2F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5A5C3DE6-397F-ADD6-8DA3-05E98768BF7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A6C8FF8-9DB8-B10A-5559-5385EAC422F4}"/>
              </a:ext>
            </a:extLst>
          </p:cNvPr>
          <p:cNvSpPr>
            <a:spLocks noGrp="1"/>
          </p:cNvSpPr>
          <p:nvPr>
            <p:ph type="dt" sz="half" idx="10"/>
          </p:nvPr>
        </p:nvSpPr>
        <p:spPr/>
        <p:txBody>
          <a:bodyPr/>
          <a:lstStyle/>
          <a:p>
            <a:fld id="{7248332B-7E29-40FA-9366-7CCA5FA5E2DC}" type="datetimeFigureOut">
              <a:rPr lang="en-IN" smtClean="0"/>
              <a:t>04-12-2025</a:t>
            </a:fld>
            <a:endParaRPr lang="en-IN"/>
          </a:p>
        </p:txBody>
      </p:sp>
      <p:sp>
        <p:nvSpPr>
          <p:cNvPr id="6" name="Footer Placeholder 5">
            <a:extLst>
              <a:ext uri="{FF2B5EF4-FFF2-40B4-BE49-F238E27FC236}">
                <a16:creationId xmlns:a16="http://schemas.microsoft.com/office/drawing/2014/main" id="{E46F3477-22F7-8646-41EF-58A5A96A979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01A7D02-A2B5-74AC-1911-6D36FA711E3C}"/>
              </a:ext>
            </a:extLst>
          </p:cNvPr>
          <p:cNvSpPr>
            <a:spLocks noGrp="1"/>
          </p:cNvSpPr>
          <p:nvPr>
            <p:ph type="sldNum" sz="quarter" idx="12"/>
          </p:nvPr>
        </p:nvSpPr>
        <p:spPr/>
        <p:txBody>
          <a:bodyPr/>
          <a:lstStyle/>
          <a:p>
            <a:fld id="{71522628-55CE-43FF-8C01-0BB09E97785A}" type="slidenum">
              <a:rPr lang="en-IN" smtClean="0"/>
              <a:t>‹#›</a:t>
            </a:fld>
            <a:endParaRPr lang="en-IN"/>
          </a:p>
        </p:txBody>
      </p:sp>
    </p:spTree>
    <p:extLst>
      <p:ext uri="{BB962C8B-B14F-4D97-AF65-F5344CB8AC3E}">
        <p14:creationId xmlns:p14="http://schemas.microsoft.com/office/powerpoint/2010/main" val="9149240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678FDE-43AC-B9B8-2B5B-14E62B1B5F28}"/>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F3FCD33-0B2D-AA2B-B7FE-AD90B977079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496D6C8-19EC-A5C2-A1EC-FD08AABAF14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EE580D8E-B5CE-FC4E-CEF5-6950E4B6464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A272383-F38F-0A48-E26D-B039FC4E882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3565CB17-9924-E70A-1330-71544CB22B79}"/>
              </a:ext>
            </a:extLst>
          </p:cNvPr>
          <p:cNvSpPr>
            <a:spLocks noGrp="1"/>
          </p:cNvSpPr>
          <p:nvPr>
            <p:ph type="dt" sz="half" idx="10"/>
          </p:nvPr>
        </p:nvSpPr>
        <p:spPr/>
        <p:txBody>
          <a:bodyPr/>
          <a:lstStyle/>
          <a:p>
            <a:fld id="{7248332B-7E29-40FA-9366-7CCA5FA5E2DC}" type="datetimeFigureOut">
              <a:rPr lang="en-IN" smtClean="0"/>
              <a:t>04-12-2025</a:t>
            </a:fld>
            <a:endParaRPr lang="en-IN"/>
          </a:p>
        </p:txBody>
      </p:sp>
      <p:sp>
        <p:nvSpPr>
          <p:cNvPr id="8" name="Footer Placeholder 7">
            <a:extLst>
              <a:ext uri="{FF2B5EF4-FFF2-40B4-BE49-F238E27FC236}">
                <a16:creationId xmlns:a16="http://schemas.microsoft.com/office/drawing/2014/main" id="{90BE3F2F-8816-8178-A555-1C4F6CB1609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EC9DF88B-F0C5-BC32-BB01-FFE815263FE0}"/>
              </a:ext>
            </a:extLst>
          </p:cNvPr>
          <p:cNvSpPr>
            <a:spLocks noGrp="1"/>
          </p:cNvSpPr>
          <p:nvPr>
            <p:ph type="sldNum" sz="quarter" idx="12"/>
          </p:nvPr>
        </p:nvSpPr>
        <p:spPr/>
        <p:txBody>
          <a:bodyPr/>
          <a:lstStyle/>
          <a:p>
            <a:fld id="{71522628-55CE-43FF-8C01-0BB09E97785A}" type="slidenum">
              <a:rPr lang="en-IN" smtClean="0"/>
              <a:t>‹#›</a:t>
            </a:fld>
            <a:endParaRPr lang="en-IN"/>
          </a:p>
        </p:txBody>
      </p:sp>
    </p:spTree>
    <p:extLst>
      <p:ext uri="{BB962C8B-B14F-4D97-AF65-F5344CB8AC3E}">
        <p14:creationId xmlns:p14="http://schemas.microsoft.com/office/powerpoint/2010/main" val="24056757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DCDA59-25DA-68A1-52E7-0641E6472DD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2389C3A1-7CDB-2BAF-603F-ABD43554521A}"/>
              </a:ext>
            </a:extLst>
          </p:cNvPr>
          <p:cNvSpPr>
            <a:spLocks noGrp="1"/>
          </p:cNvSpPr>
          <p:nvPr>
            <p:ph type="dt" sz="half" idx="10"/>
          </p:nvPr>
        </p:nvSpPr>
        <p:spPr/>
        <p:txBody>
          <a:bodyPr/>
          <a:lstStyle/>
          <a:p>
            <a:fld id="{7248332B-7E29-40FA-9366-7CCA5FA5E2DC}" type="datetimeFigureOut">
              <a:rPr lang="en-IN" smtClean="0"/>
              <a:t>04-12-2025</a:t>
            </a:fld>
            <a:endParaRPr lang="en-IN"/>
          </a:p>
        </p:txBody>
      </p:sp>
      <p:sp>
        <p:nvSpPr>
          <p:cNvPr id="4" name="Footer Placeholder 3">
            <a:extLst>
              <a:ext uri="{FF2B5EF4-FFF2-40B4-BE49-F238E27FC236}">
                <a16:creationId xmlns:a16="http://schemas.microsoft.com/office/drawing/2014/main" id="{62FDDC29-7F46-7B30-9F36-0C9E8FEC817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5C7A0F3F-C3F9-44B3-C98E-D45498DB3EF3}"/>
              </a:ext>
            </a:extLst>
          </p:cNvPr>
          <p:cNvSpPr>
            <a:spLocks noGrp="1"/>
          </p:cNvSpPr>
          <p:nvPr>
            <p:ph type="sldNum" sz="quarter" idx="12"/>
          </p:nvPr>
        </p:nvSpPr>
        <p:spPr/>
        <p:txBody>
          <a:bodyPr/>
          <a:lstStyle/>
          <a:p>
            <a:fld id="{71522628-55CE-43FF-8C01-0BB09E97785A}" type="slidenum">
              <a:rPr lang="en-IN" smtClean="0"/>
              <a:t>‹#›</a:t>
            </a:fld>
            <a:endParaRPr lang="en-IN"/>
          </a:p>
        </p:txBody>
      </p:sp>
    </p:spTree>
    <p:extLst>
      <p:ext uri="{BB962C8B-B14F-4D97-AF65-F5344CB8AC3E}">
        <p14:creationId xmlns:p14="http://schemas.microsoft.com/office/powerpoint/2010/main" val="31620222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E2F1F41-7D9E-347B-E4E9-9C9DD8EA57FC}"/>
              </a:ext>
            </a:extLst>
          </p:cNvPr>
          <p:cNvSpPr>
            <a:spLocks noGrp="1"/>
          </p:cNvSpPr>
          <p:nvPr>
            <p:ph type="dt" sz="half" idx="10"/>
          </p:nvPr>
        </p:nvSpPr>
        <p:spPr/>
        <p:txBody>
          <a:bodyPr/>
          <a:lstStyle/>
          <a:p>
            <a:fld id="{7248332B-7E29-40FA-9366-7CCA5FA5E2DC}" type="datetimeFigureOut">
              <a:rPr lang="en-IN" smtClean="0"/>
              <a:t>04-12-2025</a:t>
            </a:fld>
            <a:endParaRPr lang="en-IN"/>
          </a:p>
        </p:txBody>
      </p:sp>
      <p:sp>
        <p:nvSpPr>
          <p:cNvPr id="3" name="Footer Placeholder 2">
            <a:extLst>
              <a:ext uri="{FF2B5EF4-FFF2-40B4-BE49-F238E27FC236}">
                <a16:creationId xmlns:a16="http://schemas.microsoft.com/office/drawing/2014/main" id="{6B1EB299-415E-FF3C-63DB-0AC35EB7E540}"/>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8AA3C975-A950-C1D8-4A8C-0703F98A86C9}"/>
              </a:ext>
            </a:extLst>
          </p:cNvPr>
          <p:cNvSpPr>
            <a:spLocks noGrp="1"/>
          </p:cNvSpPr>
          <p:nvPr>
            <p:ph type="sldNum" sz="quarter" idx="12"/>
          </p:nvPr>
        </p:nvSpPr>
        <p:spPr/>
        <p:txBody>
          <a:bodyPr/>
          <a:lstStyle/>
          <a:p>
            <a:fld id="{71522628-55CE-43FF-8C01-0BB09E97785A}" type="slidenum">
              <a:rPr lang="en-IN" smtClean="0"/>
              <a:t>‹#›</a:t>
            </a:fld>
            <a:endParaRPr lang="en-IN"/>
          </a:p>
        </p:txBody>
      </p:sp>
    </p:spTree>
    <p:extLst>
      <p:ext uri="{BB962C8B-B14F-4D97-AF65-F5344CB8AC3E}">
        <p14:creationId xmlns:p14="http://schemas.microsoft.com/office/powerpoint/2010/main" val="16928613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AB4524-B567-5626-7313-717DF327473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6BA9AB7-7D9C-4FA9-1F25-70E6D0A2241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AE94F6E0-A697-6676-BC91-51AD8A3B01C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1726725-AE2A-5D7C-115B-5786BD7EE815}"/>
              </a:ext>
            </a:extLst>
          </p:cNvPr>
          <p:cNvSpPr>
            <a:spLocks noGrp="1"/>
          </p:cNvSpPr>
          <p:nvPr>
            <p:ph type="dt" sz="half" idx="10"/>
          </p:nvPr>
        </p:nvSpPr>
        <p:spPr/>
        <p:txBody>
          <a:bodyPr/>
          <a:lstStyle/>
          <a:p>
            <a:fld id="{7248332B-7E29-40FA-9366-7CCA5FA5E2DC}" type="datetimeFigureOut">
              <a:rPr lang="en-IN" smtClean="0"/>
              <a:t>04-12-2025</a:t>
            </a:fld>
            <a:endParaRPr lang="en-IN"/>
          </a:p>
        </p:txBody>
      </p:sp>
      <p:sp>
        <p:nvSpPr>
          <p:cNvPr id="6" name="Footer Placeholder 5">
            <a:extLst>
              <a:ext uri="{FF2B5EF4-FFF2-40B4-BE49-F238E27FC236}">
                <a16:creationId xmlns:a16="http://schemas.microsoft.com/office/drawing/2014/main" id="{7291025F-13E0-3B0B-FAAD-4E7C3BF3F78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AD8721D-68F8-B126-14D4-911D84EB70AC}"/>
              </a:ext>
            </a:extLst>
          </p:cNvPr>
          <p:cNvSpPr>
            <a:spLocks noGrp="1"/>
          </p:cNvSpPr>
          <p:nvPr>
            <p:ph type="sldNum" sz="quarter" idx="12"/>
          </p:nvPr>
        </p:nvSpPr>
        <p:spPr/>
        <p:txBody>
          <a:bodyPr/>
          <a:lstStyle/>
          <a:p>
            <a:fld id="{71522628-55CE-43FF-8C01-0BB09E97785A}" type="slidenum">
              <a:rPr lang="en-IN" smtClean="0"/>
              <a:t>‹#›</a:t>
            </a:fld>
            <a:endParaRPr lang="en-IN"/>
          </a:p>
        </p:txBody>
      </p:sp>
    </p:spTree>
    <p:extLst>
      <p:ext uri="{BB962C8B-B14F-4D97-AF65-F5344CB8AC3E}">
        <p14:creationId xmlns:p14="http://schemas.microsoft.com/office/powerpoint/2010/main" val="41926966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52DEA6-0106-A274-73BD-E5410BCBE8E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B006187-92E3-52DF-ACD1-A22F0B08557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71F63C23-3C2C-DBEA-0CD7-11D273A8E0A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E515DAF-8BA9-B63B-BD5C-FC871A8DEBD9}"/>
              </a:ext>
            </a:extLst>
          </p:cNvPr>
          <p:cNvSpPr>
            <a:spLocks noGrp="1"/>
          </p:cNvSpPr>
          <p:nvPr>
            <p:ph type="dt" sz="half" idx="10"/>
          </p:nvPr>
        </p:nvSpPr>
        <p:spPr/>
        <p:txBody>
          <a:bodyPr/>
          <a:lstStyle/>
          <a:p>
            <a:fld id="{7248332B-7E29-40FA-9366-7CCA5FA5E2DC}" type="datetimeFigureOut">
              <a:rPr lang="en-IN" smtClean="0"/>
              <a:t>04-12-2025</a:t>
            </a:fld>
            <a:endParaRPr lang="en-IN"/>
          </a:p>
        </p:txBody>
      </p:sp>
      <p:sp>
        <p:nvSpPr>
          <p:cNvPr id="6" name="Footer Placeholder 5">
            <a:extLst>
              <a:ext uri="{FF2B5EF4-FFF2-40B4-BE49-F238E27FC236}">
                <a16:creationId xmlns:a16="http://schemas.microsoft.com/office/drawing/2014/main" id="{D4F75BA7-F4C2-C831-439A-77CDC1FE8BC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3ECE24A-3752-96D9-0985-8B01299A0284}"/>
              </a:ext>
            </a:extLst>
          </p:cNvPr>
          <p:cNvSpPr>
            <a:spLocks noGrp="1"/>
          </p:cNvSpPr>
          <p:nvPr>
            <p:ph type="sldNum" sz="quarter" idx="12"/>
          </p:nvPr>
        </p:nvSpPr>
        <p:spPr/>
        <p:txBody>
          <a:bodyPr/>
          <a:lstStyle/>
          <a:p>
            <a:fld id="{71522628-55CE-43FF-8C01-0BB09E97785A}" type="slidenum">
              <a:rPr lang="en-IN" smtClean="0"/>
              <a:t>‹#›</a:t>
            </a:fld>
            <a:endParaRPr lang="en-IN"/>
          </a:p>
        </p:txBody>
      </p:sp>
    </p:spTree>
    <p:extLst>
      <p:ext uri="{BB962C8B-B14F-4D97-AF65-F5344CB8AC3E}">
        <p14:creationId xmlns:p14="http://schemas.microsoft.com/office/powerpoint/2010/main" val="586976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31881D-3521-84DD-30CF-9FA9FACD08E0}"/>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7A03A9E-EC0D-0DC1-51CF-DE67128DB80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91D0BDB-72C1-35BB-6994-B1E01F3F23E0}"/>
              </a:ext>
            </a:extLst>
          </p:cNvPr>
          <p:cNvSpPr>
            <a:spLocks noGrp="1"/>
          </p:cNvSpPr>
          <p:nvPr>
            <p:ph type="dt" sz="half" idx="10"/>
          </p:nvPr>
        </p:nvSpPr>
        <p:spPr/>
        <p:txBody>
          <a:bodyPr/>
          <a:lstStyle/>
          <a:p>
            <a:fld id="{7248332B-7E29-40FA-9366-7CCA5FA5E2DC}" type="datetimeFigureOut">
              <a:rPr lang="en-IN" smtClean="0"/>
              <a:t>04-12-2025</a:t>
            </a:fld>
            <a:endParaRPr lang="en-IN"/>
          </a:p>
        </p:txBody>
      </p:sp>
      <p:sp>
        <p:nvSpPr>
          <p:cNvPr id="5" name="Footer Placeholder 4">
            <a:extLst>
              <a:ext uri="{FF2B5EF4-FFF2-40B4-BE49-F238E27FC236}">
                <a16:creationId xmlns:a16="http://schemas.microsoft.com/office/drawing/2014/main" id="{8F872E35-558B-26EA-D2A3-A89B143D3A5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4ABB6FC-D93A-47CA-9082-CA3C117BBEAA}"/>
              </a:ext>
            </a:extLst>
          </p:cNvPr>
          <p:cNvSpPr>
            <a:spLocks noGrp="1"/>
          </p:cNvSpPr>
          <p:nvPr>
            <p:ph type="sldNum" sz="quarter" idx="12"/>
          </p:nvPr>
        </p:nvSpPr>
        <p:spPr/>
        <p:txBody>
          <a:bodyPr/>
          <a:lstStyle/>
          <a:p>
            <a:fld id="{71522628-55CE-43FF-8C01-0BB09E97785A}" type="slidenum">
              <a:rPr lang="en-IN" smtClean="0"/>
              <a:t>‹#›</a:t>
            </a:fld>
            <a:endParaRPr lang="en-IN"/>
          </a:p>
        </p:txBody>
      </p:sp>
    </p:spTree>
    <p:extLst>
      <p:ext uri="{BB962C8B-B14F-4D97-AF65-F5344CB8AC3E}">
        <p14:creationId xmlns:p14="http://schemas.microsoft.com/office/powerpoint/2010/main" val="10089288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C2FACE5-4908-0689-55C4-D3492336EDB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B74713B-097C-3A7D-C486-7C244C8DE32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33EE95B-3D07-A75B-E799-15633CC2C106}"/>
              </a:ext>
            </a:extLst>
          </p:cNvPr>
          <p:cNvSpPr>
            <a:spLocks noGrp="1"/>
          </p:cNvSpPr>
          <p:nvPr>
            <p:ph type="dt" sz="half" idx="10"/>
          </p:nvPr>
        </p:nvSpPr>
        <p:spPr/>
        <p:txBody>
          <a:bodyPr/>
          <a:lstStyle/>
          <a:p>
            <a:fld id="{7248332B-7E29-40FA-9366-7CCA5FA5E2DC}" type="datetimeFigureOut">
              <a:rPr lang="en-IN" smtClean="0"/>
              <a:t>04-12-2025</a:t>
            </a:fld>
            <a:endParaRPr lang="en-IN"/>
          </a:p>
        </p:txBody>
      </p:sp>
      <p:sp>
        <p:nvSpPr>
          <p:cNvPr id="5" name="Footer Placeholder 4">
            <a:extLst>
              <a:ext uri="{FF2B5EF4-FFF2-40B4-BE49-F238E27FC236}">
                <a16:creationId xmlns:a16="http://schemas.microsoft.com/office/drawing/2014/main" id="{30ADF262-E42F-7D53-8CEF-27824A671D1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F5F6753-07D3-431B-EBA6-3FC77E7A436A}"/>
              </a:ext>
            </a:extLst>
          </p:cNvPr>
          <p:cNvSpPr>
            <a:spLocks noGrp="1"/>
          </p:cNvSpPr>
          <p:nvPr>
            <p:ph type="sldNum" sz="quarter" idx="12"/>
          </p:nvPr>
        </p:nvSpPr>
        <p:spPr/>
        <p:txBody>
          <a:bodyPr/>
          <a:lstStyle/>
          <a:p>
            <a:fld id="{71522628-55CE-43FF-8C01-0BB09E97785A}" type="slidenum">
              <a:rPr lang="en-IN" smtClean="0"/>
              <a:t>‹#›</a:t>
            </a:fld>
            <a:endParaRPr lang="en-IN"/>
          </a:p>
        </p:txBody>
      </p:sp>
    </p:spTree>
    <p:extLst>
      <p:ext uri="{BB962C8B-B14F-4D97-AF65-F5344CB8AC3E}">
        <p14:creationId xmlns:p14="http://schemas.microsoft.com/office/powerpoint/2010/main" val="35834763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DDF6CB8-7BB6-B9C0-E422-8FEEA3A11A1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02E2E2D-8D0F-8916-FABE-F2D1F35FA94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2BCE00D-E921-4C76-D942-454F180F61A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248332B-7E29-40FA-9366-7CCA5FA5E2DC}" type="datetimeFigureOut">
              <a:rPr lang="en-IN" smtClean="0"/>
              <a:t>04-12-2025</a:t>
            </a:fld>
            <a:endParaRPr lang="en-IN"/>
          </a:p>
        </p:txBody>
      </p:sp>
      <p:sp>
        <p:nvSpPr>
          <p:cNvPr id="5" name="Footer Placeholder 4">
            <a:extLst>
              <a:ext uri="{FF2B5EF4-FFF2-40B4-BE49-F238E27FC236}">
                <a16:creationId xmlns:a16="http://schemas.microsoft.com/office/drawing/2014/main" id="{23E8B7CD-9C03-2E90-204F-08D317FC1A1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E673920F-69BE-4FC5-380A-A8DC528BAFE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1522628-55CE-43FF-8C01-0BB09E97785A}" type="slidenum">
              <a:rPr lang="en-IN" smtClean="0"/>
              <a:t>‹#›</a:t>
            </a:fld>
            <a:endParaRPr lang="en-IN"/>
          </a:p>
        </p:txBody>
      </p:sp>
    </p:spTree>
    <p:extLst>
      <p:ext uri="{BB962C8B-B14F-4D97-AF65-F5344CB8AC3E}">
        <p14:creationId xmlns:p14="http://schemas.microsoft.com/office/powerpoint/2010/main" val="39924039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24.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EE1BE6-746E-03D5-8C31-1CAF16B4EFDF}"/>
              </a:ext>
            </a:extLst>
          </p:cNvPr>
          <p:cNvSpPr>
            <a:spLocks noGrp="1"/>
          </p:cNvSpPr>
          <p:nvPr>
            <p:ph type="title"/>
          </p:nvPr>
        </p:nvSpPr>
        <p:spPr>
          <a:xfrm>
            <a:off x="74645" y="111968"/>
            <a:ext cx="12027159" cy="3060439"/>
          </a:xfrm>
        </p:spPr>
        <p:txBody>
          <a:bodyPr>
            <a:normAutofit fontScale="90000"/>
          </a:bodyPr>
          <a:lstStyle/>
          <a:p>
            <a:pPr algn="ctr"/>
            <a:r>
              <a:rPr lang="en-GB" sz="1800" dirty="0">
                <a:latin typeface="Times New Roman" panose="02020603050405020304" pitchFamily="18" charset="0"/>
                <a:cs typeface="Times New Roman" panose="02020603050405020304" pitchFamily="18" charset="0"/>
              </a:rPr>
              <a:t>Bapuji Educational Association(R)</a:t>
            </a:r>
            <a:br>
              <a:rPr lang="en-GB" sz="1800" dirty="0">
                <a:latin typeface="Times New Roman" panose="02020603050405020304" pitchFamily="18" charset="0"/>
                <a:cs typeface="Times New Roman" panose="02020603050405020304" pitchFamily="18" charset="0"/>
              </a:rPr>
            </a:br>
            <a:br>
              <a:rPr lang="en-GB" sz="1400" dirty="0">
                <a:latin typeface="Times New Roman" panose="02020603050405020304" pitchFamily="18" charset="0"/>
                <a:cs typeface="Times New Roman" panose="02020603050405020304" pitchFamily="18" charset="0"/>
              </a:rPr>
            </a:br>
            <a:r>
              <a:rPr lang="en-GB" sz="2400" b="1" dirty="0">
                <a:latin typeface="Times New Roman" panose="02020603050405020304" pitchFamily="18" charset="0"/>
                <a:cs typeface="Times New Roman" panose="02020603050405020304" pitchFamily="18" charset="0"/>
              </a:rPr>
              <a:t>BAPUJI INSTITUTE OF ENGINEERING AND TECHNOLOGY</a:t>
            </a:r>
            <a:br>
              <a:rPr lang="en-GB" sz="2400" b="1" dirty="0">
                <a:latin typeface="Times New Roman" panose="02020603050405020304" pitchFamily="18" charset="0"/>
                <a:cs typeface="Times New Roman" panose="02020603050405020304" pitchFamily="18" charset="0"/>
              </a:rPr>
            </a:br>
            <a:br>
              <a:rPr lang="en-GB" sz="2400" b="1" dirty="0">
                <a:latin typeface="Times New Roman" panose="02020603050405020304" pitchFamily="18" charset="0"/>
                <a:cs typeface="Times New Roman" panose="02020603050405020304" pitchFamily="18" charset="0"/>
              </a:rPr>
            </a:br>
            <a:r>
              <a:rPr lang="en-GB" sz="2400" b="1" dirty="0">
                <a:latin typeface="Times New Roman" panose="02020603050405020304" pitchFamily="18" charset="0"/>
                <a:cs typeface="Times New Roman" panose="02020603050405020304" pitchFamily="18" charset="0"/>
              </a:rPr>
              <a:t>Department of Electronics and Communication Engineering</a:t>
            </a:r>
            <a:br>
              <a:rPr lang="en-GB" sz="2400" b="1">
                <a:latin typeface="Times New Roman" panose="02020603050405020304" pitchFamily="18" charset="0"/>
                <a:cs typeface="Times New Roman" panose="02020603050405020304" pitchFamily="18" charset="0"/>
              </a:rPr>
            </a:br>
            <a:r>
              <a:rPr lang="en-GB" sz="2400" b="1">
                <a:latin typeface="Times New Roman" panose="02020603050405020304" pitchFamily="18" charset="0"/>
                <a:cs typeface="Times New Roman" panose="02020603050405020304" pitchFamily="18" charset="0"/>
              </a:rPr>
              <a:t>2025-26</a:t>
            </a:r>
            <a:br>
              <a:rPr lang="en-GB" sz="2400" dirty="0">
                <a:latin typeface="Times New Roman" panose="02020603050405020304" pitchFamily="18" charset="0"/>
                <a:cs typeface="Times New Roman" panose="02020603050405020304" pitchFamily="18" charset="0"/>
              </a:rPr>
            </a:br>
            <a:br>
              <a:rPr lang="en-GB" sz="1400" dirty="0">
                <a:latin typeface="Times New Roman" panose="02020603050405020304" pitchFamily="18" charset="0"/>
                <a:cs typeface="Times New Roman" panose="02020603050405020304" pitchFamily="18" charset="0"/>
              </a:rPr>
            </a:br>
            <a:r>
              <a:rPr lang="en-GB" sz="2400" b="1" dirty="0">
                <a:latin typeface="Times New Roman" panose="02020603050405020304" pitchFamily="18" charset="0"/>
                <a:cs typeface="Times New Roman" panose="02020603050405020304" pitchFamily="18" charset="0"/>
              </a:rPr>
              <a:t>Phase 2 Project Work Final Presentation</a:t>
            </a:r>
            <a:br>
              <a:rPr lang="en-GB" sz="1400" dirty="0">
                <a:latin typeface="Times New Roman" panose="02020603050405020304" pitchFamily="18" charset="0"/>
                <a:cs typeface="Times New Roman" panose="02020603050405020304" pitchFamily="18" charset="0"/>
              </a:rPr>
            </a:br>
            <a:r>
              <a:rPr lang="en-GB" sz="3100" b="1" dirty="0">
                <a:solidFill>
                  <a:schemeClr val="accent1"/>
                </a:solidFill>
                <a:latin typeface="Times New Roman" panose="02020603050405020304" pitchFamily="18" charset="0"/>
                <a:cs typeface="Times New Roman" panose="02020603050405020304" pitchFamily="18" charset="0"/>
              </a:rPr>
              <a:t>IoT Based School Bus Management Using RFID</a:t>
            </a:r>
            <a:br>
              <a:rPr lang="en-GB" sz="2000" b="1" dirty="0">
                <a:solidFill>
                  <a:schemeClr val="accent1"/>
                </a:solidFill>
                <a:latin typeface="Times New Roman" panose="02020603050405020304" pitchFamily="18" charset="0"/>
                <a:cs typeface="Times New Roman" panose="02020603050405020304" pitchFamily="18" charset="0"/>
              </a:rPr>
            </a:br>
            <a:r>
              <a:rPr lang="en-GB" sz="2400" b="1" dirty="0">
                <a:latin typeface="Times New Roman" panose="02020603050405020304" pitchFamily="18" charset="0"/>
                <a:cs typeface="Times New Roman" panose="02020603050405020304" pitchFamily="18" charset="0"/>
              </a:rPr>
              <a:t>Project associates</a:t>
            </a:r>
            <a:br>
              <a:rPr lang="en-GB" sz="2000" b="1" dirty="0">
                <a:latin typeface="Times New Roman" panose="02020603050405020304" pitchFamily="18" charset="0"/>
                <a:cs typeface="Times New Roman" panose="02020603050405020304" pitchFamily="18" charset="0"/>
              </a:rPr>
            </a:br>
            <a:endParaRPr lang="en-IN" sz="1800" dirty="0"/>
          </a:p>
        </p:txBody>
      </p:sp>
      <p:sp>
        <p:nvSpPr>
          <p:cNvPr id="3" name="Text Placeholder 2">
            <a:extLst>
              <a:ext uri="{FF2B5EF4-FFF2-40B4-BE49-F238E27FC236}">
                <a16:creationId xmlns:a16="http://schemas.microsoft.com/office/drawing/2014/main" id="{403C15BD-C31B-D111-3EA7-3DEE114C92CC}"/>
              </a:ext>
            </a:extLst>
          </p:cNvPr>
          <p:cNvSpPr>
            <a:spLocks noGrp="1"/>
          </p:cNvSpPr>
          <p:nvPr>
            <p:ph type="body" idx="1"/>
          </p:nvPr>
        </p:nvSpPr>
        <p:spPr>
          <a:xfrm>
            <a:off x="3707572" y="3032450"/>
            <a:ext cx="5940280" cy="2612570"/>
          </a:xfrm>
        </p:spPr>
        <p:txBody>
          <a:bodyPr>
            <a:normAutofit fontScale="25000" lnSpcReduction="20000"/>
          </a:bodyPr>
          <a:lstStyle/>
          <a:p>
            <a:endParaRPr lang="en-GB" dirty="0">
              <a:latin typeface="Times New Roman" panose="02020603050405020304" pitchFamily="18" charset="0"/>
              <a:cs typeface="Times New Roman" panose="02020603050405020304" pitchFamily="18" charset="0"/>
            </a:endParaRPr>
          </a:p>
          <a:p>
            <a:endParaRPr lang="en-GB" sz="3500" b="1" dirty="0">
              <a:solidFill>
                <a:schemeClr val="tx1"/>
              </a:solidFill>
              <a:latin typeface="Times New Roman" panose="02020603050405020304" pitchFamily="18" charset="0"/>
              <a:cs typeface="Times New Roman" panose="02020603050405020304" pitchFamily="18" charset="0"/>
            </a:endParaRPr>
          </a:p>
          <a:p>
            <a:r>
              <a:rPr lang="en-GB" b="1" dirty="0">
                <a:solidFill>
                  <a:schemeClr val="tx1"/>
                </a:solidFill>
                <a:latin typeface="Times New Roman" panose="02020603050405020304" pitchFamily="18" charset="0"/>
                <a:cs typeface="Times New Roman" panose="02020603050405020304" pitchFamily="18" charset="0"/>
              </a:rPr>
              <a:t>              </a:t>
            </a:r>
          </a:p>
          <a:p>
            <a:endParaRPr lang="en-GB" dirty="0">
              <a:latin typeface="Times New Roman" panose="02020603050405020304" pitchFamily="18" charset="0"/>
              <a:cs typeface="Times New Roman" panose="02020603050405020304" pitchFamily="18" charset="0"/>
            </a:endParaRPr>
          </a:p>
          <a:p>
            <a:pPr>
              <a:lnSpc>
                <a:spcPct val="120000"/>
              </a:lnSpc>
            </a:pPr>
            <a:r>
              <a:rPr lang="en-GB" sz="9600" b="1" dirty="0">
                <a:solidFill>
                  <a:schemeClr val="tx1"/>
                </a:solidFill>
                <a:latin typeface="Times New Roman" panose="02020603050405020304" pitchFamily="18" charset="0"/>
                <a:cs typeface="Times New Roman" panose="02020603050405020304" pitchFamily="18" charset="0"/>
              </a:rPr>
              <a:t>Anuradha P                         4BD22EC011</a:t>
            </a:r>
            <a:endParaRPr lang="en-IN" sz="9600" dirty="0">
              <a:solidFill>
                <a:schemeClr val="tx1"/>
              </a:solidFill>
            </a:endParaRPr>
          </a:p>
          <a:p>
            <a:pPr>
              <a:lnSpc>
                <a:spcPct val="110000"/>
              </a:lnSpc>
            </a:pPr>
            <a:r>
              <a:rPr lang="en-GB" sz="9600" b="1" dirty="0">
                <a:latin typeface="Times New Roman" panose="02020603050405020304" pitchFamily="18" charset="0"/>
                <a:cs typeface="Times New Roman" panose="02020603050405020304" pitchFamily="18" charset="0"/>
              </a:rPr>
              <a:t>Sanjay S Sheshagiri            4BD22EC079</a:t>
            </a:r>
            <a:endParaRPr lang="en-IN" sz="9600" dirty="0"/>
          </a:p>
          <a:p>
            <a:pPr>
              <a:lnSpc>
                <a:spcPct val="110000"/>
              </a:lnSpc>
            </a:pPr>
            <a:r>
              <a:rPr lang="en-GB" sz="9600" b="1" dirty="0" err="1">
                <a:latin typeface="Times New Roman" panose="02020603050405020304" pitchFamily="18" charset="0"/>
                <a:cs typeface="Times New Roman" panose="02020603050405020304" pitchFamily="18" charset="0"/>
              </a:rPr>
              <a:t>Shubhashree</a:t>
            </a:r>
            <a:r>
              <a:rPr lang="en-GB" sz="9600" b="1" dirty="0">
                <a:latin typeface="Times New Roman" panose="02020603050405020304" pitchFamily="18" charset="0"/>
                <a:cs typeface="Times New Roman" panose="02020603050405020304" pitchFamily="18" charset="0"/>
              </a:rPr>
              <a:t> B M               4BD22EC121</a:t>
            </a:r>
            <a:endParaRPr lang="en-IN" sz="9600" dirty="0"/>
          </a:p>
          <a:p>
            <a:endParaRPr lang="en-IN" sz="2400" dirty="0"/>
          </a:p>
          <a:p>
            <a:endParaRPr lang="en-GB" sz="2400" b="1" dirty="0">
              <a:latin typeface="Times New Roman" panose="02020603050405020304" pitchFamily="18" charset="0"/>
              <a:cs typeface="Times New Roman" panose="02020603050405020304" pitchFamily="18" charset="0"/>
            </a:endParaRPr>
          </a:p>
          <a:p>
            <a:endParaRPr lang="en-GB" b="1" dirty="0">
              <a:solidFill>
                <a:schemeClr val="tx1"/>
              </a:solidFill>
              <a:latin typeface="Times New Roman" panose="02020603050405020304" pitchFamily="18" charset="0"/>
              <a:cs typeface="Times New Roman" panose="02020603050405020304" pitchFamily="18" charset="0"/>
            </a:endParaRPr>
          </a:p>
          <a:p>
            <a:endParaRPr lang="en-GB" b="1" dirty="0">
              <a:solidFill>
                <a:schemeClr val="tx1"/>
              </a:solidFill>
              <a:latin typeface="Times New Roman" panose="02020603050405020304" pitchFamily="18" charset="0"/>
              <a:cs typeface="Times New Roman" panose="02020603050405020304" pitchFamily="18" charset="0"/>
            </a:endParaRPr>
          </a:p>
          <a:p>
            <a:pPr>
              <a:lnSpc>
                <a:spcPct val="120000"/>
              </a:lnSpc>
            </a:pPr>
            <a:endParaRPr lang="en-GB" sz="3500" b="1" dirty="0">
              <a:solidFill>
                <a:schemeClr val="tx1"/>
              </a:solidFill>
              <a:latin typeface="Times New Roman" panose="02020603050405020304" pitchFamily="18" charset="0"/>
              <a:cs typeface="Times New Roman" panose="02020603050405020304" pitchFamily="18" charset="0"/>
            </a:endParaRPr>
          </a:p>
          <a:p>
            <a:endParaRPr lang="en-IN" dirty="0"/>
          </a:p>
        </p:txBody>
      </p:sp>
      <p:sp>
        <p:nvSpPr>
          <p:cNvPr id="4" name="Content Placeholder 3">
            <a:extLst>
              <a:ext uri="{FF2B5EF4-FFF2-40B4-BE49-F238E27FC236}">
                <a16:creationId xmlns:a16="http://schemas.microsoft.com/office/drawing/2014/main" id="{22941D98-2A47-9AD8-8615-B4CF82A8ACAF}"/>
              </a:ext>
            </a:extLst>
          </p:cNvPr>
          <p:cNvSpPr>
            <a:spLocks noGrp="1"/>
          </p:cNvSpPr>
          <p:nvPr>
            <p:ph sz="half" idx="2"/>
          </p:nvPr>
        </p:nvSpPr>
        <p:spPr>
          <a:xfrm>
            <a:off x="8209544" y="5267325"/>
            <a:ext cx="4236876" cy="1200150"/>
          </a:xfrm>
        </p:spPr>
        <p:txBody>
          <a:bodyPr>
            <a:normAutofit/>
          </a:bodyPr>
          <a:lstStyle/>
          <a:p>
            <a:pPr marL="0" indent="0">
              <a:buNone/>
            </a:pPr>
            <a:r>
              <a:rPr lang="en-US" sz="2000" b="1" dirty="0">
                <a:latin typeface="Times New Roman" panose="02020603050405020304" pitchFamily="18" charset="0"/>
                <a:cs typeface="Times New Roman" panose="02020603050405020304" pitchFamily="18" charset="0"/>
              </a:rPr>
              <a:t>Dr. G. S. Sunitha                                  </a:t>
            </a:r>
          </a:p>
          <a:p>
            <a:pPr marL="0" indent="0">
              <a:buNone/>
            </a:pPr>
            <a:r>
              <a:rPr lang="en-US" sz="1600" b="1" dirty="0">
                <a:latin typeface="Times New Roman" panose="02020603050405020304" pitchFamily="18" charset="0"/>
                <a:cs typeface="Times New Roman" panose="02020603050405020304" pitchFamily="18" charset="0"/>
              </a:rPr>
              <a:t>                 </a:t>
            </a:r>
            <a:r>
              <a:rPr lang="en-US" sz="1200" dirty="0">
                <a:latin typeface="Times New Roman" panose="02020603050405020304" pitchFamily="18" charset="0"/>
                <a:cs typeface="Times New Roman" panose="02020603050405020304" pitchFamily="18" charset="0"/>
              </a:rPr>
              <a:t>M. Tech.(DEAC), Ph.D., MISTE, FIETE, FIE                                                                                   </a:t>
            </a:r>
          </a:p>
          <a:p>
            <a:pPr marL="0" indent="0">
              <a:buNone/>
            </a:pPr>
            <a:r>
              <a:rPr lang="en-US" sz="2000" b="1" dirty="0">
                <a:latin typeface="Times New Roman" panose="02020603050405020304" pitchFamily="18" charset="0"/>
                <a:cs typeface="Times New Roman" panose="02020603050405020304" pitchFamily="18" charset="0"/>
              </a:rPr>
              <a:t>Program Coordinator</a:t>
            </a:r>
            <a:endParaRPr lang="en-IN" sz="2000" dirty="0"/>
          </a:p>
          <a:p>
            <a:pPr marL="0" indent="0">
              <a:buNone/>
            </a:pPr>
            <a:endParaRPr lang="en-IN" sz="1200" dirty="0"/>
          </a:p>
        </p:txBody>
      </p:sp>
      <p:sp>
        <p:nvSpPr>
          <p:cNvPr id="5" name="Text Placeholder 4">
            <a:extLst>
              <a:ext uri="{FF2B5EF4-FFF2-40B4-BE49-F238E27FC236}">
                <a16:creationId xmlns:a16="http://schemas.microsoft.com/office/drawing/2014/main" id="{E27B4BC9-38C8-80C9-28A0-CA5DDA052DBC}"/>
              </a:ext>
            </a:extLst>
          </p:cNvPr>
          <p:cNvSpPr>
            <a:spLocks noGrp="1"/>
          </p:cNvSpPr>
          <p:nvPr>
            <p:ph type="body" sz="quarter" idx="3"/>
          </p:nvPr>
        </p:nvSpPr>
        <p:spPr>
          <a:xfrm>
            <a:off x="149290" y="5267325"/>
            <a:ext cx="3974841" cy="1200150"/>
          </a:xfrm>
        </p:spPr>
        <p:txBody>
          <a:bodyPr>
            <a:normAutofit fontScale="25000" lnSpcReduction="20000"/>
          </a:bodyPr>
          <a:lstStyle/>
          <a:p>
            <a:r>
              <a:rPr lang="en-US" sz="8000" b="1" dirty="0">
                <a:latin typeface="Times New Roman" panose="02020603050405020304" pitchFamily="18" charset="0"/>
                <a:cs typeface="Times New Roman" panose="02020603050405020304" pitchFamily="18" charset="0"/>
              </a:rPr>
              <a:t>Dr. Kiran Kumar G H                                   </a:t>
            </a:r>
          </a:p>
          <a:p>
            <a:r>
              <a:rPr lang="en-US" sz="4800" b="1" dirty="0">
                <a:latin typeface="Times New Roman" panose="02020603050405020304" pitchFamily="18" charset="0"/>
                <a:cs typeface="Times New Roman" panose="02020603050405020304" pitchFamily="18" charset="0"/>
              </a:rPr>
              <a:t>                                                </a:t>
            </a:r>
            <a:r>
              <a:rPr lang="en-US" sz="4800" b="0" dirty="0">
                <a:latin typeface="Times New Roman" panose="02020603050405020304" pitchFamily="18" charset="0"/>
                <a:cs typeface="Times New Roman" panose="02020603050405020304" pitchFamily="18" charset="0"/>
              </a:rPr>
              <a:t>M.Tech., Ph.D.                                                                                    </a:t>
            </a:r>
          </a:p>
          <a:p>
            <a:r>
              <a:rPr lang="en-US" sz="8000" b="1" dirty="0">
                <a:latin typeface="Times New Roman" panose="02020603050405020304" pitchFamily="18" charset="0"/>
                <a:cs typeface="Times New Roman" panose="02020603050405020304" pitchFamily="18" charset="0"/>
              </a:rPr>
              <a:t>       Project Guide </a:t>
            </a:r>
            <a:endParaRPr lang="en-IN" sz="8000" dirty="0"/>
          </a:p>
          <a:p>
            <a:endParaRPr lang="en-IN" dirty="0"/>
          </a:p>
        </p:txBody>
      </p:sp>
      <p:pic>
        <p:nvPicPr>
          <p:cNvPr id="7" name="Picture 6" descr="A logo with text on it&#10;&#10;Description automatically generated">
            <a:extLst>
              <a:ext uri="{FF2B5EF4-FFF2-40B4-BE49-F238E27FC236}">
                <a16:creationId xmlns:a16="http://schemas.microsoft.com/office/drawing/2014/main" id="{27B02C0A-79B2-EA29-CD94-D492A265FF5A}"/>
              </a:ext>
            </a:extLst>
          </p:cNvPr>
          <p:cNvPicPr>
            <a:picLocks noChangeAspect="1"/>
          </p:cNvPicPr>
          <p:nvPr/>
        </p:nvPicPr>
        <p:blipFill>
          <a:blip r:embed="rId2"/>
          <a:stretch>
            <a:fillRect/>
          </a:stretch>
        </p:blipFill>
        <p:spPr>
          <a:xfrm>
            <a:off x="149290" y="179971"/>
            <a:ext cx="1426892" cy="1512385"/>
          </a:xfrm>
          <a:prstGeom prst="rect">
            <a:avLst/>
          </a:prstGeom>
        </p:spPr>
      </p:pic>
      <p:pic>
        <p:nvPicPr>
          <p:cNvPr id="8" name="Picture 7">
            <a:extLst>
              <a:ext uri="{FF2B5EF4-FFF2-40B4-BE49-F238E27FC236}">
                <a16:creationId xmlns:a16="http://schemas.microsoft.com/office/drawing/2014/main" id="{6E91BC1A-E952-A251-E01B-F97BAAB5A4F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52836" y="179972"/>
            <a:ext cx="1489874" cy="1512384"/>
          </a:xfrm>
          <a:prstGeom prst="rect">
            <a:avLst/>
          </a:prstGeom>
        </p:spPr>
      </p:pic>
    </p:spTree>
    <p:extLst>
      <p:ext uri="{BB962C8B-B14F-4D97-AF65-F5344CB8AC3E}">
        <p14:creationId xmlns:p14="http://schemas.microsoft.com/office/powerpoint/2010/main" val="14733654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AE9F02D-BA54-4E49-70B2-0C57384F7D40}"/>
              </a:ext>
            </a:extLst>
          </p:cNvPr>
          <p:cNvSpPr>
            <a:spLocks noGrp="1"/>
          </p:cNvSpPr>
          <p:nvPr>
            <p:ph idx="1"/>
          </p:nvPr>
        </p:nvSpPr>
        <p:spPr>
          <a:xfrm>
            <a:off x="578498" y="195943"/>
            <a:ext cx="11122090" cy="5756988"/>
          </a:xfrm>
        </p:spPr>
        <p:txBody>
          <a:bodyPr>
            <a:normAutofit fontScale="92500" lnSpcReduction="10000"/>
          </a:bodyPr>
          <a:lstStyle/>
          <a:p>
            <a:pPr marL="0" indent="0" algn="ctr">
              <a:lnSpc>
                <a:spcPct val="110000"/>
              </a:lnSpc>
              <a:buNone/>
            </a:pPr>
            <a:r>
              <a:rPr lang="en-US" sz="3200" b="1" dirty="0">
                <a:latin typeface="Times New Roman" panose="02020603050405020304" pitchFamily="18" charset="0"/>
                <a:cs typeface="Times New Roman" panose="02020603050405020304" pitchFamily="18" charset="0"/>
              </a:rPr>
              <a:t>Vision of Department</a:t>
            </a:r>
            <a:endParaRPr lang="en-IN" sz="3200" dirty="0">
              <a:latin typeface="Times New Roman" panose="02020603050405020304" pitchFamily="18" charset="0"/>
              <a:cs typeface="Times New Roman" panose="02020603050405020304" pitchFamily="18" charset="0"/>
            </a:endParaRPr>
          </a:p>
          <a:p>
            <a:pPr marL="0" indent="0" algn="just">
              <a:lnSpc>
                <a:spcPct val="110000"/>
              </a:lnSpc>
              <a:buNone/>
            </a:pPr>
            <a:r>
              <a:rPr lang="en-US" sz="2400" dirty="0">
                <a:latin typeface="Times New Roman" panose="02020603050405020304" pitchFamily="18" charset="0"/>
                <a:cs typeface="Times New Roman" panose="02020603050405020304" pitchFamily="18" charset="0"/>
              </a:rPr>
              <a:t>“To be in the fore front of providing quality technical education and research in Electronics &amp; Communication Engineering to produce skilled professionals to cater to the challenges of the society.”</a:t>
            </a:r>
          </a:p>
          <a:p>
            <a:pPr marL="0" indent="0" algn="ctr">
              <a:lnSpc>
                <a:spcPct val="110000"/>
              </a:lnSpc>
              <a:buNone/>
            </a:pPr>
            <a:r>
              <a:rPr lang="en-US" sz="3200" b="1" dirty="0">
                <a:latin typeface="Times New Roman" panose="02020603050405020304" pitchFamily="18" charset="0"/>
                <a:cs typeface="Times New Roman" panose="02020603050405020304" pitchFamily="18" charset="0"/>
              </a:rPr>
              <a:t>Mission of Department </a:t>
            </a:r>
          </a:p>
          <a:p>
            <a:pPr algn="just">
              <a:lnSpc>
                <a:spcPct val="110000"/>
              </a:lnSpc>
            </a:pPr>
            <a:r>
              <a:rPr lang="en-US" sz="2400" b="1" dirty="0">
                <a:latin typeface="Times New Roman" panose="02020603050405020304" pitchFamily="18" charset="0"/>
                <a:cs typeface="Times New Roman" panose="02020603050405020304" pitchFamily="18" charset="0"/>
              </a:rPr>
              <a:t>M1. </a:t>
            </a:r>
            <a:r>
              <a:rPr lang="en-US" sz="2400" dirty="0">
                <a:latin typeface="Times New Roman" panose="02020603050405020304" pitchFamily="18" charset="0"/>
                <a:cs typeface="Times New Roman" panose="02020603050405020304" pitchFamily="18" charset="0"/>
              </a:rPr>
              <a:t>To facilitate the students with profound technical knowledge through effective teaching learning process for a successful career.</a:t>
            </a:r>
            <a:endParaRPr lang="en-IN" sz="2400" dirty="0">
              <a:latin typeface="Times New Roman" panose="02020603050405020304" pitchFamily="18" charset="0"/>
              <a:cs typeface="Times New Roman" panose="02020603050405020304" pitchFamily="18" charset="0"/>
            </a:endParaRPr>
          </a:p>
          <a:p>
            <a:pPr algn="just">
              <a:lnSpc>
                <a:spcPct val="110000"/>
              </a:lnSpc>
            </a:pPr>
            <a:r>
              <a:rPr lang="en-US" sz="2400" b="1" dirty="0">
                <a:latin typeface="Times New Roman" panose="02020603050405020304" pitchFamily="18" charset="0"/>
                <a:cs typeface="Times New Roman" panose="02020603050405020304" pitchFamily="18" charset="0"/>
              </a:rPr>
              <a:t>M2. </a:t>
            </a:r>
            <a:r>
              <a:rPr lang="en-US" sz="2400" dirty="0">
                <a:latin typeface="Times New Roman" panose="02020603050405020304" pitchFamily="18" charset="0"/>
                <a:cs typeface="Times New Roman" panose="02020603050405020304" pitchFamily="18" charset="0"/>
              </a:rPr>
              <a:t>To impart quality education to strengthen students to meet the industry standards and face confidently the challenges in the programme.</a:t>
            </a:r>
            <a:endParaRPr lang="en-IN" sz="2400" dirty="0">
              <a:latin typeface="Times New Roman" panose="02020603050405020304" pitchFamily="18" charset="0"/>
              <a:cs typeface="Times New Roman" panose="02020603050405020304" pitchFamily="18" charset="0"/>
            </a:endParaRPr>
          </a:p>
          <a:p>
            <a:pPr algn="just">
              <a:lnSpc>
                <a:spcPct val="110000"/>
              </a:lnSpc>
            </a:pPr>
            <a:r>
              <a:rPr lang="en-US" sz="2400" b="1" dirty="0">
                <a:latin typeface="Times New Roman" panose="02020603050405020304" pitchFamily="18" charset="0"/>
                <a:cs typeface="Times New Roman" panose="02020603050405020304" pitchFamily="18" charset="0"/>
              </a:rPr>
              <a:t>M3. </a:t>
            </a:r>
            <a:r>
              <a:rPr lang="en-US" sz="2400" dirty="0">
                <a:latin typeface="Times New Roman" panose="02020603050405020304" pitchFamily="18" charset="0"/>
                <a:cs typeface="Times New Roman" panose="02020603050405020304" pitchFamily="18" charset="0"/>
              </a:rPr>
              <a:t>To develop the essence of innovation and research among students and faculty by providing infrastructure and a conducive environment.</a:t>
            </a:r>
            <a:endParaRPr lang="en-IN" sz="2400" dirty="0">
              <a:latin typeface="Times New Roman" panose="02020603050405020304" pitchFamily="18" charset="0"/>
              <a:cs typeface="Times New Roman" panose="02020603050405020304" pitchFamily="18" charset="0"/>
            </a:endParaRPr>
          </a:p>
          <a:p>
            <a:pPr algn="just">
              <a:lnSpc>
                <a:spcPct val="110000"/>
              </a:lnSpc>
            </a:pPr>
            <a:r>
              <a:rPr lang="en-US" sz="2400" b="1" dirty="0">
                <a:latin typeface="Times New Roman" panose="02020603050405020304" pitchFamily="18" charset="0"/>
                <a:cs typeface="Times New Roman" panose="02020603050405020304" pitchFamily="18" charset="0"/>
              </a:rPr>
              <a:t>M4</a:t>
            </a:r>
            <a:r>
              <a:rPr lang="en-US" sz="2400" dirty="0">
                <a:latin typeface="Times New Roman" panose="02020603050405020304" pitchFamily="18" charset="0"/>
                <a:cs typeface="Times New Roman" panose="02020603050405020304" pitchFamily="18" charset="0"/>
              </a:rPr>
              <a:t>.To inculcate the student community with ethical values, communication skills, leadership qualities, entrepreneurial skills, and lifelong learning to meet the societal needs</a:t>
            </a:r>
            <a:endParaRPr lang="en-IN" sz="2400" dirty="0"/>
          </a:p>
          <a:p>
            <a:pPr marL="0" indent="0" algn="just">
              <a:lnSpc>
                <a:spcPct val="110000"/>
              </a:lnSpc>
              <a:buNone/>
            </a:pPr>
            <a:endParaRPr lang="en-IN" sz="2400" dirty="0">
              <a:latin typeface="Times New Roman" panose="02020603050405020304" pitchFamily="18" charset="0"/>
              <a:cs typeface="Times New Roman" panose="02020603050405020304" pitchFamily="18" charset="0"/>
            </a:endParaRPr>
          </a:p>
          <a:p>
            <a:pPr marL="0" indent="0" algn="ctr">
              <a:lnSpc>
                <a:spcPct val="110000"/>
              </a:lnSpc>
              <a:buNone/>
            </a:pPr>
            <a:endParaRPr lang="en-US" sz="2400" dirty="0">
              <a:latin typeface="Times New Roman" panose="02020603050405020304" pitchFamily="18" charset="0"/>
              <a:cs typeface="Times New Roman" panose="02020603050405020304" pitchFamily="18" charset="0"/>
            </a:endParaRPr>
          </a:p>
          <a:p>
            <a:pPr marL="0" indent="0" algn="ctr">
              <a:lnSpc>
                <a:spcPct val="110000"/>
              </a:lnSpc>
              <a:buNone/>
            </a:pPr>
            <a:endParaRPr lang="en-US" sz="2400" dirty="0">
              <a:latin typeface="Times New Roman" panose="02020603050405020304" pitchFamily="18" charset="0"/>
              <a:cs typeface="Times New Roman" panose="02020603050405020304" pitchFamily="18" charset="0"/>
            </a:endParaRPr>
          </a:p>
          <a:p>
            <a:pPr marL="0" indent="0" algn="ctr">
              <a:lnSpc>
                <a:spcPct val="110000"/>
              </a:lnSpc>
              <a:buNone/>
            </a:pPr>
            <a:endParaRPr lang="en-IN" sz="2400" dirty="0">
              <a:latin typeface="Times New Roman" panose="02020603050405020304" pitchFamily="18" charset="0"/>
              <a:cs typeface="Times New Roman" panose="02020603050405020304" pitchFamily="18" charset="0"/>
            </a:endParaRPr>
          </a:p>
          <a:p>
            <a:pPr marL="0" indent="0" algn="just">
              <a:lnSpc>
                <a:spcPct val="110000"/>
              </a:lnSpc>
              <a:buNone/>
            </a:pPr>
            <a:endParaRPr lang="en-IN" sz="2400" dirty="0"/>
          </a:p>
        </p:txBody>
      </p:sp>
    </p:spTree>
    <p:extLst>
      <p:ext uri="{BB962C8B-B14F-4D97-AF65-F5344CB8AC3E}">
        <p14:creationId xmlns:p14="http://schemas.microsoft.com/office/powerpoint/2010/main" val="35084013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04FC82-23D4-CAC7-883C-3DCCD5580941}"/>
              </a:ext>
            </a:extLst>
          </p:cNvPr>
          <p:cNvSpPr>
            <a:spLocks noGrp="1"/>
          </p:cNvSpPr>
          <p:nvPr>
            <p:ph type="title"/>
          </p:nvPr>
        </p:nvSpPr>
        <p:spPr>
          <a:xfrm>
            <a:off x="416768" y="365125"/>
            <a:ext cx="10937032" cy="455969"/>
          </a:xfrm>
        </p:spPr>
        <p:txBody>
          <a:bodyPr>
            <a:noAutofit/>
          </a:bodyPr>
          <a:lstStyle/>
          <a:p>
            <a:r>
              <a:rPr lang="en-US" sz="2800" b="1" dirty="0">
                <a:latin typeface="Times New Roman" panose="02020603050405020304" pitchFamily="18" charset="0"/>
                <a:cs typeface="Times New Roman" panose="02020603050405020304" pitchFamily="18" charset="0"/>
              </a:rPr>
              <a:t>Course Objectives:</a:t>
            </a:r>
            <a:endParaRPr lang="en-IN" sz="28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EECF183-BF08-3B6C-073E-25F3D62412DE}"/>
              </a:ext>
            </a:extLst>
          </p:cNvPr>
          <p:cNvSpPr>
            <a:spLocks noGrp="1"/>
          </p:cNvSpPr>
          <p:nvPr>
            <p:ph idx="1"/>
          </p:nvPr>
        </p:nvSpPr>
        <p:spPr>
          <a:xfrm>
            <a:off x="419877" y="821094"/>
            <a:ext cx="11355355" cy="5671781"/>
          </a:xfrm>
        </p:spPr>
        <p:txBody>
          <a:bodyPr/>
          <a:lstStyle/>
          <a:p>
            <a:pPr marL="0" indent="0">
              <a:buNone/>
            </a:pPr>
            <a:r>
              <a:rPr lang="en-US" sz="2000" dirty="0">
                <a:latin typeface="Times New Roman" panose="02020603050405020304" pitchFamily="18" charset="0"/>
                <a:cs typeface="Times New Roman" panose="02020603050405020304" pitchFamily="18" charset="0"/>
              </a:rPr>
              <a:t>This course will enable students to</a:t>
            </a:r>
          </a:p>
          <a:p>
            <a:r>
              <a:rPr lang="en-US" sz="2000" dirty="0">
                <a:latin typeface="Times New Roman" panose="02020603050405020304" pitchFamily="18" charset="0"/>
                <a:cs typeface="Times New Roman" panose="02020603050405020304" pitchFamily="18" charset="0"/>
              </a:rPr>
              <a:t>Develop skills of identifying, analyzing and proposing a work plan to solve </a:t>
            </a:r>
            <a:r>
              <a:rPr lang="en-US" sz="2000" dirty="0" err="1">
                <a:latin typeface="Times New Roman" panose="02020603050405020304" pitchFamily="18" charset="0"/>
                <a:cs typeface="Times New Roman" panose="02020603050405020304" pitchFamily="18" charset="0"/>
              </a:rPr>
              <a:t>anengineering</a:t>
            </a:r>
            <a:r>
              <a:rPr lang="en-US" sz="2000" dirty="0">
                <a:latin typeface="Times New Roman" panose="02020603050405020304" pitchFamily="18" charset="0"/>
                <a:cs typeface="Times New Roman" panose="02020603050405020304" pitchFamily="18" charset="0"/>
              </a:rPr>
              <a:t> problem.</a:t>
            </a:r>
          </a:p>
          <a:p>
            <a:r>
              <a:rPr lang="en-US" sz="2000" dirty="0">
                <a:latin typeface="Times New Roman" panose="02020603050405020304" pitchFamily="18" charset="0"/>
                <a:cs typeface="Times New Roman" panose="02020603050405020304" pitchFamily="18" charset="0"/>
              </a:rPr>
              <a:t>Enhance ability of exploring the literature and existing products, carry out field </a:t>
            </a:r>
            <a:r>
              <a:rPr lang="en-US" sz="2000" dirty="0" err="1">
                <a:latin typeface="Times New Roman" panose="02020603050405020304" pitchFamily="18" charset="0"/>
                <a:cs typeface="Times New Roman" panose="02020603050405020304" pitchFamily="18" charset="0"/>
              </a:rPr>
              <a:t>visits,technical</a:t>
            </a:r>
            <a:r>
              <a:rPr lang="en-US" sz="2000" dirty="0">
                <a:latin typeface="Times New Roman" panose="02020603050405020304" pitchFamily="18" charset="0"/>
                <a:cs typeface="Times New Roman" panose="02020603050405020304" pitchFamily="18" charset="0"/>
              </a:rPr>
              <a:t> presentation and report preparation.</a:t>
            </a:r>
          </a:p>
          <a:p>
            <a:r>
              <a:rPr lang="en-US" sz="2000" dirty="0">
                <a:latin typeface="Times New Roman" panose="02020603050405020304" pitchFamily="18" charset="0"/>
                <a:cs typeface="Times New Roman" panose="02020603050405020304" pitchFamily="18" charset="0"/>
              </a:rPr>
              <a:t> Estimate resources required, and make plans to utilize the necessary resources.</a:t>
            </a:r>
          </a:p>
          <a:p>
            <a:r>
              <a:rPr lang="en-US" sz="2000" dirty="0">
                <a:latin typeface="Times New Roman" panose="02020603050405020304" pitchFamily="18" charset="0"/>
                <a:cs typeface="Times New Roman" panose="02020603050405020304" pitchFamily="18" charset="0"/>
              </a:rPr>
              <a:t> Develop interpersonal relations in team work.</a:t>
            </a:r>
          </a:p>
          <a:p>
            <a:pPr marL="0" indent="0">
              <a:buNone/>
            </a:pPr>
            <a:r>
              <a:rPr lang="en-US" b="1" dirty="0">
                <a:latin typeface="Times New Roman" panose="02020603050405020304" pitchFamily="18" charset="0"/>
                <a:cs typeface="Times New Roman" panose="02020603050405020304" pitchFamily="18" charset="0"/>
              </a:rPr>
              <a:t>Course Outcomes:</a:t>
            </a:r>
          </a:p>
          <a:p>
            <a:pPr marL="0" indent="0">
              <a:buNone/>
            </a:pPr>
            <a:r>
              <a:rPr lang="en-US" sz="2000" dirty="0">
                <a:latin typeface="Times New Roman" panose="02020603050405020304" pitchFamily="18" charset="0"/>
                <a:cs typeface="Times New Roman" panose="02020603050405020304" pitchFamily="18" charset="0"/>
              </a:rPr>
              <a:t>On completion of this course, students are able to</a:t>
            </a:r>
          </a:p>
          <a:p>
            <a:r>
              <a:rPr lang="en-US" sz="2000" dirty="0">
                <a:latin typeface="Times New Roman" panose="02020603050405020304" pitchFamily="18" charset="0"/>
                <a:cs typeface="Times New Roman" panose="02020603050405020304" pitchFamily="18" charset="0"/>
              </a:rPr>
              <a:t>Identify and propose plan to solve the engineering problems in the society.</a:t>
            </a:r>
          </a:p>
          <a:p>
            <a:r>
              <a:rPr lang="en-US" sz="2000" dirty="0">
                <a:latin typeface="Times New Roman" panose="02020603050405020304" pitchFamily="18" charset="0"/>
                <a:cs typeface="Times New Roman" panose="02020603050405020304" pitchFamily="18" charset="0"/>
              </a:rPr>
              <a:t>Extensively explore the literature and products available in the area of identified problem</a:t>
            </a:r>
          </a:p>
          <a:p>
            <a:r>
              <a:rPr lang="en-US" sz="2000" dirty="0">
                <a:latin typeface="Times New Roman" panose="02020603050405020304" pitchFamily="18" charset="0"/>
                <a:cs typeface="Times New Roman" panose="02020603050405020304" pitchFamily="18" charset="0"/>
              </a:rPr>
              <a:t>Have knowledge of available resources and their utilization.</a:t>
            </a:r>
          </a:p>
          <a:p>
            <a:r>
              <a:rPr lang="en-US" sz="2000" dirty="0">
                <a:latin typeface="Times New Roman" panose="02020603050405020304" pitchFamily="18" charset="0"/>
                <a:cs typeface="Times New Roman" panose="02020603050405020304" pitchFamily="18" charset="0"/>
              </a:rPr>
              <a:t>Work effectively in teams and demonstrate team-building capabilities.</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445150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4927EF-362F-E63B-5787-5AC6F37D1BEF}"/>
              </a:ext>
            </a:extLst>
          </p:cNvPr>
          <p:cNvSpPr>
            <a:spLocks noGrp="1"/>
          </p:cNvSpPr>
          <p:nvPr>
            <p:ph type="title"/>
          </p:nvPr>
        </p:nvSpPr>
        <p:spPr>
          <a:xfrm>
            <a:off x="838200" y="129152"/>
            <a:ext cx="10515600" cy="893404"/>
          </a:xfrm>
        </p:spPr>
        <p:txBody>
          <a:bodyPr>
            <a:normAutofit/>
          </a:bodyPr>
          <a:lstStyle/>
          <a:p>
            <a:r>
              <a:rPr lang="en-IN" sz="3200" b="1" dirty="0">
                <a:solidFill>
                  <a:schemeClr val="accent1"/>
                </a:solidFill>
                <a:latin typeface="Times New Roman" panose="02020603050405020304" pitchFamily="18" charset="0"/>
                <a:cs typeface="Times New Roman" panose="02020603050405020304" pitchFamily="18" charset="0"/>
              </a:rPr>
              <a:t>FLOW OF PRESENTATION</a:t>
            </a:r>
            <a:endParaRPr lang="en-IN" sz="3200" b="1" dirty="0">
              <a:solidFill>
                <a:schemeClr val="accent1"/>
              </a:solidFill>
            </a:endParaRPr>
          </a:p>
        </p:txBody>
      </p:sp>
      <p:sp>
        <p:nvSpPr>
          <p:cNvPr id="3" name="Content Placeholder 2">
            <a:extLst>
              <a:ext uri="{FF2B5EF4-FFF2-40B4-BE49-F238E27FC236}">
                <a16:creationId xmlns:a16="http://schemas.microsoft.com/office/drawing/2014/main" id="{E1299C74-9B36-C98D-17E0-D6728519E03C}"/>
              </a:ext>
            </a:extLst>
          </p:cNvPr>
          <p:cNvSpPr>
            <a:spLocks noGrp="1"/>
          </p:cNvSpPr>
          <p:nvPr>
            <p:ph idx="1"/>
          </p:nvPr>
        </p:nvSpPr>
        <p:spPr>
          <a:xfrm>
            <a:off x="609600" y="1022556"/>
            <a:ext cx="10884310" cy="5329083"/>
          </a:xfrm>
        </p:spPr>
        <p:txBody>
          <a:bodyPr>
            <a:normAutofit fontScale="92500" lnSpcReduction="20000"/>
          </a:bodyPr>
          <a:lstStyle/>
          <a:p>
            <a:r>
              <a:rPr lang="en-IN" sz="2800" dirty="0">
                <a:latin typeface="Times New Roman" panose="02020603050405020304" pitchFamily="18" charset="0"/>
                <a:cs typeface="Times New Roman" panose="02020603050405020304" pitchFamily="18" charset="0"/>
              </a:rPr>
              <a:t>INTRODUCTION</a:t>
            </a:r>
          </a:p>
          <a:p>
            <a:r>
              <a:rPr lang="en-IN" sz="2800" dirty="0">
                <a:latin typeface="Times New Roman" panose="02020603050405020304" pitchFamily="18" charset="0"/>
                <a:cs typeface="Times New Roman" panose="02020603050405020304" pitchFamily="18" charset="0"/>
              </a:rPr>
              <a:t>LITERATURE SURVEY</a:t>
            </a:r>
          </a:p>
          <a:p>
            <a:r>
              <a:rPr lang="en-IN" dirty="0">
                <a:latin typeface="Times New Roman" panose="02020603050405020304" pitchFamily="18" charset="0"/>
                <a:cs typeface="Times New Roman" panose="02020603050405020304" pitchFamily="18" charset="0"/>
              </a:rPr>
              <a:t>PROBLEM STATEMENT</a:t>
            </a:r>
          </a:p>
          <a:p>
            <a:r>
              <a:rPr lang="en-IN" dirty="0">
                <a:latin typeface="Times New Roman" panose="02020603050405020304" pitchFamily="18" charset="0"/>
                <a:cs typeface="Times New Roman" panose="02020603050405020304" pitchFamily="18" charset="0"/>
              </a:rPr>
              <a:t>OBJECTIVES</a:t>
            </a:r>
            <a:endParaRPr lang="en-IN" sz="2800" dirty="0">
              <a:latin typeface="Times New Roman" panose="02020603050405020304" pitchFamily="18" charset="0"/>
              <a:cs typeface="Times New Roman" panose="02020603050405020304" pitchFamily="18" charset="0"/>
            </a:endParaRPr>
          </a:p>
          <a:p>
            <a:r>
              <a:rPr lang="en-IN" sz="2800" dirty="0">
                <a:latin typeface="Times New Roman" panose="02020603050405020304" pitchFamily="18" charset="0"/>
                <a:cs typeface="Times New Roman" panose="02020603050405020304" pitchFamily="18" charset="0"/>
              </a:rPr>
              <a:t>BLOCK DIAGRAM &amp; METHODOLOGY</a:t>
            </a:r>
          </a:p>
          <a:p>
            <a:r>
              <a:rPr lang="en-IN" dirty="0">
                <a:latin typeface="Times New Roman" panose="02020603050405020304" pitchFamily="18" charset="0"/>
                <a:cs typeface="Times New Roman" panose="02020603050405020304" pitchFamily="18" charset="0"/>
              </a:rPr>
              <a:t>FLOWCHART</a:t>
            </a:r>
          </a:p>
          <a:p>
            <a:r>
              <a:rPr lang="en-IN" sz="2800" dirty="0">
                <a:latin typeface="Times New Roman" panose="02020603050405020304" pitchFamily="18" charset="0"/>
                <a:cs typeface="Times New Roman" panose="02020603050405020304" pitchFamily="18" charset="0"/>
              </a:rPr>
              <a:t>CIRCUIT DIAGRAM</a:t>
            </a:r>
          </a:p>
          <a:p>
            <a:r>
              <a:rPr lang="en-IN" sz="2800" dirty="0">
                <a:latin typeface="Times New Roman" panose="02020603050405020304" pitchFamily="18" charset="0"/>
                <a:cs typeface="Times New Roman" panose="02020603050405020304" pitchFamily="18" charset="0"/>
              </a:rPr>
              <a:t>HARDWARE &amp; SOFTWARE DESCRIPTION</a:t>
            </a:r>
          </a:p>
          <a:p>
            <a:r>
              <a:rPr lang="en-IN" dirty="0">
                <a:latin typeface="Times New Roman" panose="02020603050405020304" pitchFamily="18" charset="0"/>
                <a:cs typeface="Times New Roman" panose="02020603050405020304" pitchFamily="18" charset="0"/>
              </a:rPr>
              <a:t>APPLICATIONS</a:t>
            </a:r>
          </a:p>
          <a:p>
            <a:r>
              <a:rPr lang="en-IN" sz="2800" dirty="0">
                <a:latin typeface="Times New Roman" panose="02020603050405020304" pitchFamily="18" charset="0"/>
                <a:cs typeface="Times New Roman" panose="02020603050405020304" pitchFamily="18" charset="0"/>
              </a:rPr>
              <a:t>LIMITATIONS</a:t>
            </a:r>
          </a:p>
          <a:p>
            <a:r>
              <a:rPr lang="en-IN" sz="2800" dirty="0">
                <a:latin typeface="Times New Roman" panose="02020603050405020304" pitchFamily="18" charset="0"/>
                <a:cs typeface="Times New Roman" panose="02020603050405020304" pitchFamily="18" charset="0"/>
              </a:rPr>
              <a:t>RESULTS</a:t>
            </a:r>
          </a:p>
          <a:p>
            <a:r>
              <a:rPr lang="en-IN" sz="2800" dirty="0">
                <a:latin typeface="Times New Roman" panose="02020603050405020304" pitchFamily="18" charset="0"/>
                <a:cs typeface="Times New Roman" panose="02020603050405020304" pitchFamily="18" charset="0"/>
              </a:rPr>
              <a:t>CONCLUSION</a:t>
            </a:r>
          </a:p>
          <a:p>
            <a:r>
              <a:rPr lang="en-IN" sz="2800" dirty="0">
                <a:latin typeface="Times New Roman" panose="02020603050405020304" pitchFamily="18" charset="0"/>
                <a:cs typeface="Times New Roman" panose="02020603050405020304" pitchFamily="18" charset="0"/>
              </a:rPr>
              <a:t>REFERENCES</a:t>
            </a:r>
          </a:p>
          <a:p>
            <a:pPr marL="0" indent="0">
              <a:buNone/>
            </a:pPr>
            <a:endParaRPr lang="en-IN" dirty="0"/>
          </a:p>
        </p:txBody>
      </p:sp>
    </p:spTree>
    <p:extLst>
      <p:ext uri="{BB962C8B-B14F-4D97-AF65-F5344CB8AC3E}">
        <p14:creationId xmlns:p14="http://schemas.microsoft.com/office/powerpoint/2010/main" val="37847506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C694FA-CDD7-7C8C-3951-C3F583B61B4B}"/>
              </a:ext>
            </a:extLst>
          </p:cNvPr>
          <p:cNvSpPr>
            <a:spLocks noGrp="1"/>
          </p:cNvSpPr>
          <p:nvPr>
            <p:ph type="title"/>
          </p:nvPr>
        </p:nvSpPr>
        <p:spPr>
          <a:xfrm>
            <a:off x="838200" y="206504"/>
            <a:ext cx="10515600" cy="707895"/>
          </a:xfrm>
        </p:spPr>
        <p:txBody>
          <a:bodyPr>
            <a:normAutofit/>
          </a:bodyPr>
          <a:lstStyle/>
          <a:p>
            <a:pPr algn="ctr"/>
            <a:r>
              <a:rPr lang="en-IN" sz="3200" b="1" dirty="0">
                <a:solidFill>
                  <a:schemeClr val="accent1"/>
                </a:solidFill>
                <a:latin typeface="Times New Roman" panose="02020603050405020304" pitchFamily="18" charset="0"/>
                <a:cs typeface="Times New Roman" panose="02020603050405020304" pitchFamily="18" charset="0"/>
              </a:rPr>
              <a:t>INTRODUCTION</a:t>
            </a:r>
          </a:p>
        </p:txBody>
      </p:sp>
      <p:sp>
        <p:nvSpPr>
          <p:cNvPr id="3" name="Content Placeholder 2">
            <a:extLst>
              <a:ext uri="{FF2B5EF4-FFF2-40B4-BE49-F238E27FC236}">
                <a16:creationId xmlns:a16="http://schemas.microsoft.com/office/drawing/2014/main" id="{89069882-DB2D-01EE-8892-45D1666086DE}"/>
              </a:ext>
            </a:extLst>
          </p:cNvPr>
          <p:cNvSpPr>
            <a:spLocks noGrp="1"/>
          </p:cNvSpPr>
          <p:nvPr>
            <p:ph idx="1"/>
          </p:nvPr>
        </p:nvSpPr>
        <p:spPr>
          <a:xfrm>
            <a:off x="334347" y="1156996"/>
            <a:ext cx="11523306" cy="5205251"/>
          </a:xfrm>
        </p:spPr>
        <p:txBody>
          <a:bodyPr>
            <a:normAutofit/>
          </a:bodyPr>
          <a:lstStyle/>
          <a:p>
            <a:pPr algn="just">
              <a:lnSpc>
                <a:spcPct val="100000"/>
              </a:lnSpc>
            </a:pPr>
            <a:r>
              <a:rPr lang="en-IN" sz="2400" dirty="0">
                <a:effectLst/>
                <a:latin typeface="Times New Roman" panose="02020603050405020304" pitchFamily="18" charset="0"/>
                <a:ea typeface="Calibri" panose="020F0502020204030204" pitchFamily="34" charset="0"/>
              </a:rPr>
              <a:t>In recent years, the integration of smart technologies into transportation systems has transformed the way we approach safety, efficiency, and convenience. </a:t>
            </a:r>
          </a:p>
          <a:p>
            <a:pPr algn="just">
              <a:lnSpc>
                <a:spcPct val="100000"/>
              </a:lnSpc>
            </a:pPr>
            <a:r>
              <a:rPr lang="en-US" sz="2400" dirty="0">
                <a:latin typeface="Times New Roman" panose="02020603050405020304" pitchFamily="18" charset="0"/>
                <a:cs typeface="Times New Roman" panose="02020603050405020304" pitchFamily="18" charset="0"/>
              </a:rPr>
              <a:t>Traditional school bus systems lack real-time tracking, </a:t>
            </a:r>
            <a:r>
              <a:rPr lang="en-IN" sz="2400" dirty="0">
                <a:effectLst/>
                <a:latin typeface="Times New Roman" panose="02020603050405020304" pitchFamily="18" charset="0"/>
                <a:ea typeface="Calibri" panose="020F0502020204030204" pitchFamily="34" charset="0"/>
              </a:rPr>
              <a:t>unauthorized access</a:t>
            </a:r>
            <a:r>
              <a:rPr lang="en-US" sz="2400" dirty="0">
                <a:latin typeface="Times New Roman" panose="02020603050405020304" pitchFamily="18" charset="0"/>
                <a:cs typeface="Times New Roman" panose="02020603050405020304" pitchFamily="18" charset="0"/>
              </a:rPr>
              <a:t>, and automated safety mechanisms like </a:t>
            </a:r>
            <a:r>
              <a:rPr lang="en-IN" sz="2400" dirty="0">
                <a:effectLst/>
                <a:latin typeface="Times New Roman" panose="02020603050405020304" pitchFamily="18" charset="0"/>
                <a:ea typeface="Calibri" panose="020F0502020204030204" pitchFamily="34" charset="0"/>
              </a:rPr>
              <a:t>during boarding and alighting.</a:t>
            </a:r>
          </a:p>
          <a:p>
            <a:pPr algn="just">
              <a:lnSpc>
                <a:spcPct val="100000"/>
              </a:lnSpc>
            </a:pPr>
            <a:r>
              <a:rPr lang="en-US" sz="2400" dirty="0">
                <a:latin typeface="Times New Roman" panose="02020603050405020304" pitchFamily="18" charset="0"/>
                <a:cs typeface="Times New Roman" panose="02020603050405020304" pitchFamily="18" charset="0"/>
              </a:rPr>
              <a:t>In this system, each student is issued an RFID card, which is scanned while boarding the bus. The RFID data is processed by the ESP WROOM 32 microcontroller, which authenticates the student and updates their boarding status to the cloud in real-time.</a:t>
            </a:r>
          </a:p>
          <a:p>
            <a:pPr algn="just">
              <a:lnSpc>
                <a:spcPct val="100000"/>
              </a:lnSpc>
            </a:pPr>
            <a:r>
              <a:rPr lang="en-US" sz="2400" dirty="0">
                <a:latin typeface="Times New Roman" panose="02020603050405020304" pitchFamily="18" charset="0"/>
                <a:cs typeface="Times New Roman" panose="02020603050405020304" pitchFamily="18" charset="0"/>
              </a:rPr>
              <a:t>The system integrates a GPS module for live location tracking, a solenoid lock for automatic door control, and IoT connectivity for continuous monitoring by parents and school authorities. </a:t>
            </a:r>
          </a:p>
          <a:p>
            <a:pPr algn="just">
              <a:lnSpc>
                <a:spcPct val="100000"/>
              </a:lnSpc>
            </a:pPr>
            <a:r>
              <a:rPr lang="en-US" sz="2400" dirty="0">
                <a:latin typeface="Times New Roman" panose="02020603050405020304" pitchFamily="18" charset="0"/>
                <a:cs typeface="Times New Roman" panose="02020603050405020304" pitchFamily="18" charset="0"/>
              </a:rPr>
              <a:t>Additionally, LCD displays, buzzer alerts, and LED indicators enhance the safety and interactivity of the system.</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380903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F1B572-4F44-9709-0EF5-17BAAADF3033}"/>
              </a:ext>
            </a:extLst>
          </p:cNvPr>
          <p:cNvSpPr>
            <a:spLocks noGrp="1"/>
          </p:cNvSpPr>
          <p:nvPr>
            <p:ph type="title"/>
          </p:nvPr>
        </p:nvSpPr>
        <p:spPr>
          <a:xfrm>
            <a:off x="838200" y="0"/>
            <a:ext cx="10515600" cy="847855"/>
          </a:xfrm>
        </p:spPr>
        <p:txBody>
          <a:bodyPr>
            <a:normAutofit/>
          </a:bodyPr>
          <a:lstStyle/>
          <a:p>
            <a:pPr algn="ctr"/>
            <a:r>
              <a:rPr lang="en-IN" sz="3200" b="1" dirty="0">
                <a:solidFill>
                  <a:schemeClr val="accent1"/>
                </a:solidFill>
                <a:latin typeface="Times New Roman" panose="02020603050405020304" pitchFamily="18" charset="0"/>
                <a:cs typeface="Times New Roman" panose="02020603050405020304" pitchFamily="18" charset="0"/>
              </a:rPr>
              <a:t>Literature Survey</a:t>
            </a:r>
          </a:p>
        </p:txBody>
      </p:sp>
      <p:graphicFrame>
        <p:nvGraphicFramePr>
          <p:cNvPr id="7" name="Content Placeholder 6">
            <a:extLst>
              <a:ext uri="{FF2B5EF4-FFF2-40B4-BE49-F238E27FC236}">
                <a16:creationId xmlns:a16="http://schemas.microsoft.com/office/drawing/2014/main" id="{B742662E-DBD0-8C42-3124-5DE758ACC514}"/>
              </a:ext>
            </a:extLst>
          </p:cNvPr>
          <p:cNvGraphicFramePr>
            <a:graphicFrameLocks noGrp="1"/>
          </p:cNvGraphicFramePr>
          <p:nvPr>
            <p:ph idx="1"/>
            <p:extLst>
              <p:ext uri="{D42A27DB-BD31-4B8C-83A1-F6EECF244321}">
                <p14:modId xmlns:p14="http://schemas.microsoft.com/office/powerpoint/2010/main" val="2192094149"/>
              </p:ext>
            </p:extLst>
          </p:nvPr>
        </p:nvGraphicFramePr>
        <p:xfrm>
          <a:off x="506962" y="847855"/>
          <a:ext cx="11178076" cy="5636923"/>
        </p:xfrm>
        <a:graphic>
          <a:graphicData uri="http://schemas.openxmlformats.org/drawingml/2006/table">
            <a:tbl>
              <a:tblPr firstRow="1" bandRow="1"/>
              <a:tblGrid>
                <a:gridCol w="466529">
                  <a:extLst>
                    <a:ext uri="{9D8B030D-6E8A-4147-A177-3AD203B41FA5}">
                      <a16:colId xmlns:a16="http://schemas.microsoft.com/office/drawing/2014/main" val="4208939876"/>
                    </a:ext>
                  </a:extLst>
                </a:gridCol>
                <a:gridCol w="1502229">
                  <a:extLst>
                    <a:ext uri="{9D8B030D-6E8A-4147-A177-3AD203B41FA5}">
                      <a16:colId xmlns:a16="http://schemas.microsoft.com/office/drawing/2014/main" val="1709712825"/>
                    </a:ext>
                  </a:extLst>
                </a:gridCol>
                <a:gridCol w="2164702">
                  <a:extLst>
                    <a:ext uri="{9D8B030D-6E8A-4147-A177-3AD203B41FA5}">
                      <a16:colId xmlns:a16="http://schemas.microsoft.com/office/drawing/2014/main" val="205918671"/>
                    </a:ext>
                  </a:extLst>
                </a:gridCol>
                <a:gridCol w="1539551">
                  <a:extLst>
                    <a:ext uri="{9D8B030D-6E8A-4147-A177-3AD203B41FA5}">
                      <a16:colId xmlns:a16="http://schemas.microsoft.com/office/drawing/2014/main" val="1342950873"/>
                    </a:ext>
                  </a:extLst>
                </a:gridCol>
                <a:gridCol w="2146041">
                  <a:extLst>
                    <a:ext uri="{9D8B030D-6E8A-4147-A177-3AD203B41FA5}">
                      <a16:colId xmlns:a16="http://schemas.microsoft.com/office/drawing/2014/main" val="447259517"/>
                    </a:ext>
                  </a:extLst>
                </a:gridCol>
                <a:gridCol w="1548881">
                  <a:extLst>
                    <a:ext uri="{9D8B030D-6E8A-4147-A177-3AD203B41FA5}">
                      <a16:colId xmlns:a16="http://schemas.microsoft.com/office/drawing/2014/main" val="3336184766"/>
                    </a:ext>
                  </a:extLst>
                </a:gridCol>
                <a:gridCol w="1810143">
                  <a:extLst>
                    <a:ext uri="{9D8B030D-6E8A-4147-A177-3AD203B41FA5}">
                      <a16:colId xmlns:a16="http://schemas.microsoft.com/office/drawing/2014/main" val="1388126261"/>
                    </a:ext>
                  </a:extLst>
                </a:gridCol>
              </a:tblGrid>
              <a:tr h="942979">
                <a:tc>
                  <a:txBody>
                    <a:bodyPr/>
                    <a:lstStyle/>
                    <a:p>
                      <a:r>
                        <a:rPr lang="en-US" b="1" dirty="0" err="1">
                          <a:latin typeface="Times New Roman" panose="02020603050405020304" pitchFamily="18" charset="0"/>
                          <a:cs typeface="Times New Roman" panose="02020603050405020304" pitchFamily="18" charset="0"/>
                        </a:rPr>
                        <a:t>SI.No</a:t>
                      </a:r>
                      <a:endParaRPr lang="en-IN" b="1" dirty="0">
                        <a:latin typeface="Times New Roman" panose="02020603050405020304" pitchFamily="18" charset="0"/>
                        <a:cs typeface="Times New Roman" panose="02020603050405020304" pitchFamily="18" charset="0"/>
                      </a:endParaRPr>
                    </a:p>
                  </a:txBody>
                  <a:tcPr/>
                </a:tc>
                <a:tc>
                  <a:txBody>
                    <a:bodyPr/>
                    <a:lstStyle/>
                    <a:p>
                      <a:r>
                        <a:rPr lang="en-IN" b="1" dirty="0">
                          <a:latin typeface="Times New Roman" panose="02020603050405020304" pitchFamily="18" charset="0"/>
                          <a:cs typeface="Times New Roman" panose="02020603050405020304" pitchFamily="18" charset="0"/>
                        </a:rPr>
                        <a:t>Ref. Paper authors / year</a:t>
                      </a:r>
                    </a:p>
                  </a:txBody>
                  <a:tcPr/>
                </a:tc>
                <a:tc>
                  <a:txBody>
                    <a:bodyPr/>
                    <a:lstStyle/>
                    <a:p>
                      <a:r>
                        <a:rPr lang="en-IN" b="1" dirty="0">
                          <a:latin typeface="Times New Roman" panose="02020603050405020304" pitchFamily="18" charset="0"/>
                          <a:cs typeface="Times New Roman" panose="02020603050405020304" pitchFamily="18" charset="0"/>
                        </a:rPr>
                        <a:t>Objectives / Issues addressed</a:t>
                      </a:r>
                    </a:p>
                  </a:txBody>
                  <a:tcPr/>
                </a:tc>
                <a:tc>
                  <a:txBody>
                    <a:bodyPr/>
                    <a:lstStyle/>
                    <a:p>
                      <a:r>
                        <a:rPr lang="en-IN" b="1" dirty="0">
                          <a:latin typeface="Times New Roman" panose="02020603050405020304" pitchFamily="18" charset="0"/>
                          <a:cs typeface="Times New Roman" panose="02020603050405020304" pitchFamily="18" charset="0"/>
                        </a:rPr>
                        <a:t>Parameter Evaluated</a:t>
                      </a:r>
                    </a:p>
                  </a:txBody>
                  <a:tcPr/>
                </a:tc>
                <a:tc>
                  <a:txBody>
                    <a:bodyPr/>
                    <a:lstStyle/>
                    <a:p>
                      <a:r>
                        <a:rPr lang="en-IN" b="1" dirty="0">
                          <a:latin typeface="Times New Roman" panose="02020603050405020304" pitchFamily="18" charset="0"/>
                          <a:cs typeface="Times New Roman" panose="02020603050405020304" pitchFamily="18" charset="0"/>
                        </a:rPr>
                        <a:t>Adaptive Technique</a:t>
                      </a:r>
                    </a:p>
                  </a:txBody>
                  <a:tcPr/>
                </a:tc>
                <a:tc>
                  <a:txBody>
                    <a:bodyPr/>
                    <a:lstStyle/>
                    <a:p>
                      <a:r>
                        <a:rPr lang="en-IN" b="1" dirty="0">
                          <a:latin typeface="Times New Roman" panose="02020603050405020304" pitchFamily="18" charset="0"/>
                          <a:cs typeface="Times New Roman" panose="02020603050405020304" pitchFamily="18" charset="0"/>
                        </a:rPr>
                        <a:t>Drawbacks</a:t>
                      </a:r>
                    </a:p>
                  </a:txBody>
                  <a:tcPr/>
                </a:tc>
                <a:tc>
                  <a:txBody>
                    <a:bodyPr/>
                    <a:lstStyle/>
                    <a:p>
                      <a:r>
                        <a:rPr lang="en-IN" b="1" dirty="0">
                          <a:latin typeface="Times New Roman" panose="02020603050405020304" pitchFamily="18" charset="0"/>
                          <a:cs typeface="Times New Roman" panose="02020603050405020304" pitchFamily="18" charset="0"/>
                        </a:rPr>
                        <a:t>Open issue / Improvements</a:t>
                      </a:r>
                    </a:p>
                  </a:txBody>
                  <a:tcPr/>
                </a:tc>
                <a:extLst>
                  <a:ext uri="{0D108BD9-81ED-4DB2-BD59-A6C34878D82A}">
                    <a16:rowId xmlns:a16="http://schemas.microsoft.com/office/drawing/2014/main" val="4131251373"/>
                  </a:ext>
                </a:extLst>
              </a:tr>
              <a:tr h="2344437">
                <a:tc>
                  <a:txBody>
                    <a:bodyPr/>
                    <a:lstStyle/>
                    <a:p>
                      <a:r>
                        <a:rPr lang="en-US" dirty="0">
                          <a:latin typeface="Times New Roman" panose="02020603050405020304" pitchFamily="18" charset="0"/>
                          <a:cs typeface="Times New Roman" panose="02020603050405020304" pitchFamily="18" charset="0"/>
                        </a:rPr>
                        <a:t>1.</a:t>
                      </a:r>
                      <a:endParaRPr lang="en-IN" dirty="0">
                        <a:latin typeface="Times New Roman" panose="02020603050405020304" pitchFamily="18" charset="0"/>
                        <a:cs typeface="Times New Roman" panose="02020603050405020304" pitchFamily="18" charset="0"/>
                      </a:endParaRPr>
                    </a:p>
                  </a:txBody>
                  <a:tcPr/>
                </a:tc>
                <a:tc>
                  <a:txBody>
                    <a:bodyPr/>
                    <a:lstStyle/>
                    <a:p>
                      <a:r>
                        <a:rPr lang="en-IN" sz="1800" dirty="0">
                          <a:latin typeface="Times New Roman" panose="02020603050405020304" pitchFamily="18" charset="0"/>
                          <a:cs typeface="Times New Roman" panose="02020603050405020304" pitchFamily="18" charset="0"/>
                        </a:rPr>
                        <a:t>Dr. Deepika Rani Sona et al., 2024</a:t>
                      </a:r>
                    </a:p>
                  </a:txBody>
                  <a:tcPr/>
                </a:tc>
                <a:tc>
                  <a:txBody>
                    <a:bodyPr/>
                    <a:lstStyle/>
                    <a:p>
                      <a:r>
                        <a:rPr lang="en-US" sz="1800" dirty="0">
                          <a:latin typeface="Times New Roman" panose="02020603050405020304" pitchFamily="18" charset="0"/>
                          <a:cs typeface="Times New Roman" panose="02020603050405020304" pitchFamily="18" charset="0"/>
                        </a:rPr>
                        <a:t>Designed an IoT-enabled school bus monitoring system for real-time student attendance, location tracking, and emergency alerting to parents.</a:t>
                      </a:r>
                      <a:endParaRPr lang="en-IN" sz="1800" dirty="0">
                        <a:latin typeface="Times New Roman" panose="02020603050405020304" pitchFamily="18" charset="0"/>
                        <a:cs typeface="Times New Roman" panose="02020603050405020304" pitchFamily="18" charset="0"/>
                      </a:endParaRPr>
                    </a:p>
                  </a:txBody>
                  <a:tcPr/>
                </a:tc>
                <a:tc>
                  <a:txBody>
                    <a:bodyPr/>
                    <a:lstStyle/>
                    <a:p>
                      <a:r>
                        <a:rPr lang="en-US" sz="1800" dirty="0">
                          <a:latin typeface="Times New Roman" panose="02020603050405020304" pitchFamily="18" charset="0"/>
                          <a:cs typeface="Times New Roman" panose="02020603050405020304" pitchFamily="18" charset="0"/>
                        </a:rPr>
                        <a:t>Accuracy of attendance logs, live GPS tracking, emergency SMS reliability</a:t>
                      </a:r>
                      <a:r>
                        <a:rPr lang="en-US" sz="2000" dirty="0"/>
                        <a:t>.</a:t>
                      </a:r>
                      <a:endParaRPr lang="en-IN" sz="2000" dirty="0"/>
                    </a:p>
                  </a:txBody>
                  <a:tcPr/>
                </a:tc>
                <a:tc>
                  <a:txBody>
                    <a:bodyPr/>
                    <a:lstStyle/>
                    <a:p>
                      <a:pPr algn="l"/>
                      <a:r>
                        <a:rPr lang="en-US" sz="1800" dirty="0">
                          <a:latin typeface="Times New Roman" panose="02020603050405020304" pitchFamily="18" charset="0"/>
                          <a:cs typeface="Times New Roman" panose="02020603050405020304" pitchFamily="18" charset="0"/>
                        </a:rPr>
                        <a:t>Integration of RFID for ID verification, GPS for tracking, GSM for alerts, and GPRS for cloud sync via </a:t>
                      </a:r>
                      <a:r>
                        <a:rPr lang="en-US" sz="1800" dirty="0" err="1">
                          <a:latin typeface="Times New Roman" panose="02020603050405020304" pitchFamily="18" charset="0"/>
                          <a:cs typeface="Times New Roman" panose="02020603050405020304" pitchFamily="18" charset="0"/>
                        </a:rPr>
                        <a:t>ThingSpeak</a:t>
                      </a:r>
                      <a:r>
                        <a:rPr lang="en-US" sz="1800" dirty="0">
                          <a:latin typeface="Times New Roman" panose="02020603050405020304" pitchFamily="18" charset="0"/>
                          <a:cs typeface="Times New Roman" panose="02020603050405020304" pitchFamily="18" charset="0"/>
                        </a:rPr>
                        <a:t>.</a:t>
                      </a:r>
                      <a:endParaRPr lang="en-IN" sz="1800" dirty="0">
                        <a:latin typeface="Times New Roman" panose="02020603050405020304" pitchFamily="18" charset="0"/>
                        <a:cs typeface="Times New Roman" panose="02020603050405020304" pitchFamily="18" charset="0"/>
                      </a:endParaRPr>
                    </a:p>
                  </a:txBody>
                  <a:tcPr/>
                </a:tc>
                <a:tc>
                  <a:txBody>
                    <a:bodyPr/>
                    <a:lstStyle/>
                    <a:p>
                      <a:r>
                        <a:rPr lang="en-US" sz="1800" dirty="0">
                          <a:latin typeface="Times New Roman" panose="02020603050405020304" pitchFamily="18" charset="0"/>
                          <a:cs typeface="Times New Roman" panose="02020603050405020304" pitchFamily="18" charset="0"/>
                        </a:rPr>
                        <a:t>Prototype not miniaturized, lacks predictive intelligence like ETA.</a:t>
                      </a:r>
                      <a:endParaRPr lang="en-IN" sz="1800" dirty="0">
                        <a:latin typeface="Times New Roman" panose="02020603050405020304" pitchFamily="18" charset="0"/>
                        <a:cs typeface="Times New Roman" panose="02020603050405020304" pitchFamily="18" charset="0"/>
                      </a:endParaRPr>
                    </a:p>
                  </a:txBody>
                  <a:tcPr/>
                </a:tc>
                <a:tc>
                  <a:txBody>
                    <a:bodyPr/>
                    <a:lstStyle/>
                    <a:p>
                      <a:r>
                        <a:rPr lang="en-US" sz="1800" dirty="0">
                          <a:latin typeface="Times New Roman" panose="02020603050405020304" pitchFamily="18" charset="0"/>
                          <a:cs typeface="Times New Roman" panose="02020603050405020304" pitchFamily="18" charset="0"/>
                        </a:rPr>
                        <a:t>Introduce AI for ETA, driver fatigue monitoring, and mini-IC-based hardware for practical deployment.</a:t>
                      </a:r>
                      <a:endParaRPr lang="en-IN"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750786140"/>
                  </a:ext>
                </a:extLst>
              </a:tr>
              <a:tr h="2349507">
                <a:tc>
                  <a:txBody>
                    <a:bodyPr/>
                    <a:lstStyle/>
                    <a:p>
                      <a:r>
                        <a:rPr lang="en-US" sz="1800" dirty="0">
                          <a:latin typeface="Times New Roman" panose="02020603050405020304" pitchFamily="18" charset="0"/>
                          <a:cs typeface="Times New Roman" panose="02020603050405020304" pitchFamily="18" charset="0"/>
                        </a:rPr>
                        <a:t>2.</a:t>
                      </a:r>
                      <a:endParaRPr lang="en-IN" sz="1800" dirty="0">
                        <a:latin typeface="Times New Roman" panose="02020603050405020304" pitchFamily="18" charset="0"/>
                        <a:cs typeface="Times New Roman" panose="02020603050405020304" pitchFamily="18" charset="0"/>
                      </a:endParaRPr>
                    </a:p>
                  </a:txBody>
                  <a:tcPr/>
                </a:tc>
                <a:tc>
                  <a:txBody>
                    <a:bodyPr/>
                    <a:lstStyle/>
                    <a:p>
                      <a:r>
                        <a:rPr lang="da-DK" sz="1800" dirty="0">
                          <a:latin typeface="Times New Roman" panose="02020603050405020304" pitchFamily="18" charset="0"/>
                          <a:cs typeface="Times New Roman" panose="02020603050405020304" pitchFamily="18" charset="0"/>
                        </a:rPr>
                        <a:t>Nayana Shaji et al., 2023</a:t>
                      </a:r>
                      <a:endParaRPr lang="en-IN" sz="1800" dirty="0">
                        <a:latin typeface="Times New Roman" panose="02020603050405020304" pitchFamily="18" charset="0"/>
                        <a:cs typeface="Times New Roman" panose="02020603050405020304" pitchFamily="18" charset="0"/>
                      </a:endParaRPr>
                    </a:p>
                  </a:txBody>
                  <a:tcPr/>
                </a:tc>
                <a:tc>
                  <a:txBody>
                    <a:bodyPr/>
                    <a:lstStyle/>
                    <a:p>
                      <a:r>
                        <a:rPr lang="en-US" sz="1800" dirty="0">
                          <a:latin typeface="Times New Roman" panose="02020603050405020304" pitchFamily="18" charset="0"/>
                          <a:cs typeface="Times New Roman" panose="02020603050405020304" pitchFamily="18" charset="0"/>
                        </a:rPr>
                        <a:t>Developed a digital bus ticketing system using RFID and GPS to automate fare based on distance and log travel data in a central system.</a:t>
                      </a:r>
                      <a:endParaRPr lang="en-IN" sz="1800" dirty="0">
                        <a:latin typeface="Times New Roman" panose="02020603050405020304" pitchFamily="18" charset="0"/>
                        <a:cs typeface="Times New Roman" panose="02020603050405020304" pitchFamily="18" charset="0"/>
                      </a:endParaRPr>
                    </a:p>
                  </a:txBody>
                  <a:tcPr/>
                </a:tc>
                <a:tc>
                  <a:txBody>
                    <a:bodyPr/>
                    <a:lstStyle/>
                    <a:p>
                      <a:r>
                        <a:rPr lang="en-US" sz="1800" dirty="0">
                          <a:latin typeface="Times New Roman" panose="02020603050405020304" pitchFamily="18" charset="0"/>
                          <a:cs typeface="Times New Roman" panose="02020603050405020304" pitchFamily="18" charset="0"/>
                        </a:rPr>
                        <a:t>Trip distance via GPS, fare deduction logs, RFID card authentication.</a:t>
                      </a:r>
                      <a:endParaRPr lang="en-IN" sz="1800" dirty="0">
                        <a:latin typeface="Times New Roman" panose="02020603050405020304" pitchFamily="18" charset="0"/>
                        <a:cs typeface="Times New Roman" panose="02020603050405020304" pitchFamily="18" charset="0"/>
                      </a:endParaRPr>
                    </a:p>
                  </a:txBody>
                  <a:tcPr/>
                </a:tc>
                <a:tc>
                  <a:txBody>
                    <a:bodyPr/>
                    <a:lstStyle/>
                    <a:p>
                      <a:r>
                        <a:rPr lang="en-US" sz="1800" dirty="0">
                          <a:latin typeface="Times New Roman" panose="02020603050405020304" pitchFamily="18" charset="0"/>
                          <a:cs typeface="Times New Roman" panose="02020603050405020304" pitchFamily="18" charset="0"/>
                        </a:rPr>
                        <a:t>RFID-enabled college ID with NFC, GPS-based fare calculator, </a:t>
                      </a:r>
                      <a:r>
                        <a:rPr lang="en-US" sz="1800" dirty="0" err="1">
                          <a:latin typeface="Times New Roman" panose="02020603050405020304" pitchFamily="18" charset="0"/>
                          <a:cs typeface="Times New Roman" panose="02020603050405020304" pitchFamily="18" charset="0"/>
                        </a:rPr>
                        <a:t>NodeMCU</a:t>
                      </a:r>
                      <a:r>
                        <a:rPr lang="en-US" sz="1800" dirty="0">
                          <a:latin typeface="Times New Roman" panose="02020603050405020304" pitchFamily="18" charset="0"/>
                          <a:cs typeface="Times New Roman" panose="02020603050405020304" pitchFamily="18" charset="0"/>
                        </a:rPr>
                        <a:t> controller, and Android interface.</a:t>
                      </a:r>
                      <a:endParaRPr lang="en-IN" sz="1800" dirty="0">
                        <a:latin typeface="Times New Roman" panose="02020603050405020304" pitchFamily="18" charset="0"/>
                        <a:cs typeface="Times New Roman" panose="02020603050405020304" pitchFamily="18" charset="0"/>
                      </a:endParaRPr>
                    </a:p>
                  </a:txBody>
                  <a:tcPr/>
                </a:tc>
                <a:tc>
                  <a:txBody>
                    <a:bodyPr/>
                    <a:lstStyle/>
                    <a:p>
                      <a:r>
                        <a:rPr lang="en-US" sz="1800" dirty="0">
                          <a:latin typeface="Times New Roman" panose="02020603050405020304" pitchFamily="18" charset="0"/>
                          <a:cs typeface="Times New Roman" panose="02020603050405020304" pitchFamily="18" charset="0"/>
                        </a:rPr>
                        <a:t>Focuses more on payment than safety; lacks boarding alerts to parents.</a:t>
                      </a:r>
                      <a:endParaRPr lang="en-IN" sz="1800" dirty="0">
                        <a:latin typeface="Times New Roman" panose="02020603050405020304" pitchFamily="18" charset="0"/>
                        <a:cs typeface="Times New Roman" panose="02020603050405020304" pitchFamily="18" charset="0"/>
                      </a:endParaRPr>
                    </a:p>
                  </a:txBody>
                  <a:tcPr/>
                </a:tc>
                <a:tc>
                  <a:txBody>
                    <a:bodyPr/>
                    <a:lstStyle/>
                    <a:p>
                      <a:r>
                        <a:rPr lang="en-US" sz="1800" dirty="0">
                          <a:latin typeface="Times New Roman" panose="02020603050405020304" pitchFamily="18" charset="0"/>
                          <a:cs typeface="Times New Roman" panose="02020603050405020304" pitchFamily="18" charset="0"/>
                        </a:rPr>
                        <a:t>Integrate secure payments (e.g., UPI), real-time notifications to parents, and student safety features.</a:t>
                      </a:r>
                      <a:endParaRPr lang="en-IN"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25202040"/>
                  </a:ext>
                </a:extLst>
              </a:tr>
            </a:tbl>
          </a:graphicData>
        </a:graphic>
      </p:graphicFrame>
    </p:spTree>
    <p:extLst>
      <p:ext uri="{BB962C8B-B14F-4D97-AF65-F5344CB8AC3E}">
        <p14:creationId xmlns:p14="http://schemas.microsoft.com/office/powerpoint/2010/main" val="29082009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FFB06A13-8F5A-4F0B-CCC7-94888AD17E1E}"/>
              </a:ext>
            </a:extLst>
          </p:cNvPr>
          <p:cNvGraphicFramePr>
            <a:graphicFrameLocks noGrp="1"/>
          </p:cNvGraphicFramePr>
          <p:nvPr>
            <p:ph idx="1"/>
            <p:extLst>
              <p:ext uri="{D42A27DB-BD31-4B8C-83A1-F6EECF244321}">
                <p14:modId xmlns:p14="http://schemas.microsoft.com/office/powerpoint/2010/main" val="818730602"/>
              </p:ext>
            </p:extLst>
          </p:nvPr>
        </p:nvGraphicFramePr>
        <p:xfrm>
          <a:off x="460309" y="326572"/>
          <a:ext cx="11352242" cy="6111551"/>
        </p:xfrm>
        <a:graphic>
          <a:graphicData uri="http://schemas.openxmlformats.org/drawingml/2006/table">
            <a:tbl>
              <a:tblPr firstRow="1" bandRow="1"/>
              <a:tblGrid>
                <a:gridCol w="472752">
                  <a:extLst>
                    <a:ext uri="{9D8B030D-6E8A-4147-A177-3AD203B41FA5}">
                      <a16:colId xmlns:a16="http://schemas.microsoft.com/office/drawing/2014/main" val="1756071320"/>
                    </a:ext>
                  </a:extLst>
                </a:gridCol>
                <a:gridCol w="1231641">
                  <a:extLst>
                    <a:ext uri="{9D8B030D-6E8A-4147-A177-3AD203B41FA5}">
                      <a16:colId xmlns:a16="http://schemas.microsoft.com/office/drawing/2014/main" val="238178035"/>
                    </a:ext>
                  </a:extLst>
                </a:gridCol>
                <a:gridCol w="2668555">
                  <a:extLst>
                    <a:ext uri="{9D8B030D-6E8A-4147-A177-3AD203B41FA5}">
                      <a16:colId xmlns:a16="http://schemas.microsoft.com/office/drawing/2014/main" val="4158357993"/>
                    </a:ext>
                  </a:extLst>
                </a:gridCol>
                <a:gridCol w="1707502">
                  <a:extLst>
                    <a:ext uri="{9D8B030D-6E8A-4147-A177-3AD203B41FA5}">
                      <a16:colId xmlns:a16="http://schemas.microsoft.com/office/drawing/2014/main" val="532853976"/>
                    </a:ext>
                  </a:extLst>
                </a:gridCol>
                <a:gridCol w="1894114">
                  <a:extLst>
                    <a:ext uri="{9D8B030D-6E8A-4147-A177-3AD203B41FA5}">
                      <a16:colId xmlns:a16="http://schemas.microsoft.com/office/drawing/2014/main" val="2959031164"/>
                    </a:ext>
                  </a:extLst>
                </a:gridCol>
                <a:gridCol w="1614196">
                  <a:extLst>
                    <a:ext uri="{9D8B030D-6E8A-4147-A177-3AD203B41FA5}">
                      <a16:colId xmlns:a16="http://schemas.microsoft.com/office/drawing/2014/main" val="912690613"/>
                    </a:ext>
                  </a:extLst>
                </a:gridCol>
                <a:gridCol w="1763482">
                  <a:extLst>
                    <a:ext uri="{9D8B030D-6E8A-4147-A177-3AD203B41FA5}">
                      <a16:colId xmlns:a16="http://schemas.microsoft.com/office/drawing/2014/main" val="2580672460"/>
                    </a:ext>
                  </a:extLst>
                </a:gridCol>
              </a:tblGrid>
              <a:tr h="1055152">
                <a:tc>
                  <a:txBody>
                    <a:bodyPr/>
                    <a:lstStyle/>
                    <a:p>
                      <a:r>
                        <a:rPr lang="en-IN" sz="1800" b="1" dirty="0">
                          <a:latin typeface="Times New Roman" panose="02020603050405020304" pitchFamily="18" charset="0"/>
                          <a:cs typeface="Times New Roman" panose="02020603050405020304" pitchFamily="18" charset="0"/>
                        </a:rPr>
                        <a:t>SI.</a:t>
                      </a:r>
                    </a:p>
                    <a:p>
                      <a:r>
                        <a:rPr lang="en-IN" sz="1800" b="1" dirty="0">
                          <a:latin typeface="Times New Roman" panose="02020603050405020304" pitchFamily="18" charset="0"/>
                          <a:cs typeface="Times New Roman" panose="02020603050405020304" pitchFamily="18" charset="0"/>
                        </a:rPr>
                        <a:t>No</a:t>
                      </a:r>
                    </a:p>
                  </a:txBody>
                  <a:tcPr/>
                </a:tc>
                <a:tc>
                  <a:txBody>
                    <a:bodyPr/>
                    <a:lstStyle/>
                    <a:p>
                      <a:r>
                        <a:rPr lang="en-IN" sz="1800" b="1" dirty="0">
                          <a:latin typeface="Times New Roman" panose="02020603050405020304" pitchFamily="18" charset="0"/>
                          <a:cs typeface="Times New Roman" panose="02020603050405020304" pitchFamily="18" charset="0"/>
                        </a:rPr>
                        <a:t>Ref. Paper authors / year</a:t>
                      </a:r>
                    </a:p>
                  </a:txBody>
                  <a:tcPr/>
                </a:tc>
                <a:tc>
                  <a:txBody>
                    <a:bodyPr/>
                    <a:lstStyle/>
                    <a:p>
                      <a:r>
                        <a:rPr lang="en-IN" sz="1800" b="1" dirty="0">
                          <a:latin typeface="Times New Roman" panose="02020603050405020304" pitchFamily="18" charset="0"/>
                          <a:cs typeface="Times New Roman" panose="02020603050405020304" pitchFamily="18" charset="0"/>
                        </a:rPr>
                        <a:t>Objectives / Issues addressed</a:t>
                      </a:r>
                    </a:p>
                  </a:txBody>
                  <a:tcPr/>
                </a:tc>
                <a:tc>
                  <a:txBody>
                    <a:bodyPr/>
                    <a:lstStyle/>
                    <a:p>
                      <a:r>
                        <a:rPr lang="en-IN" sz="1800" b="1" dirty="0">
                          <a:latin typeface="Times New Roman" panose="02020603050405020304" pitchFamily="18" charset="0"/>
                          <a:cs typeface="Times New Roman" panose="02020603050405020304" pitchFamily="18" charset="0"/>
                        </a:rPr>
                        <a:t>Parameter Evaluated</a:t>
                      </a:r>
                    </a:p>
                    <a:p>
                      <a:endParaRPr lang="en-IN" dirty="0"/>
                    </a:p>
                  </a:txBody>
                  <a:tcPr/>
                </a:tc>
                <a:tc>
                  <a:txBody>
                    <a:bodyPr/>
                    <a:lstStyle/>
                    <a:p>
                      <a:r>
                        <a:rPr lang="en-IN" sz="1800" b="1" dirty="0">
                          <a:latin typeface="Times New Roman" panose="02020603050405020304" pitchFamily="18" charset="0"/>
                          <a:cs typeface="Times New Roman" panose="02020603050405020304" pitchFamily="18" charset="0"/>
                        </a:rPr>
                        <a:t>Adaptive Technique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1" dirty="0">
                          <a:latin typeface="Times New Roman" panose="02020603050405020304" pitchFamily="18" charset="0"/>
                          <a:cs typeface="Times New Roman" panose="02020603050405020304" pitchFamily="18" charset="0"/>
                        </a:rPr>
                        <a:t>Drawbacks</a:t>
                      </a:r>
                    </a:p>
                    <a:p>
                      <a:endParaRPr lang="en-IN" sz="2200" b="1"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1" dirty="0">
                          <a:latin typeface="Times New Roman" panose="02020603050405020304" pitchFamily="18" charset="0"/>
                          <a:cs typeface="Times New Roman" panose="02020603050405020304" pitchFamily="18" charset="0"/>
                        </a:rPr>
                        <a:t>Open issue / Improvements</a:t>
                      </a:r>
                    </a:p>
                    <a:p>
                      <a:endParaRPr lang="en-IN" sz="2200" b="1"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166975809"/>
                  </a:ext>
                </a:extLst>
              </a:tr>
              <a:tr h="2361087">
                <a:tc>
                  <a:txBody>
                    <a:bodyPr/>
                    <a:lstStyle/>
                    <a:p>
                      <a:r>
                        <a:rPr lang="en-US" dirty="0">
                          <a:latin typeface="Times New Roman" panose="02020603050405020304" pitchFamily="18" charset="0"/>
                          <a:cs typeface="Times New Roman" panose="02020603050405020304" pitchFamily="18" charset="0"/>
                        </a:rPr>
                        <a:t>3.</a:t>
                      </a:r>
                      <a:endParaRPr lang="en-IN" dirty="0">
                        <a:latin typeface="Times New Roman" panose="02020603050405020304" pitchFamily="18" charset="0"/>
                        <a:cs typeface="Times New Roman" panose="02020603050405020304" pitchFamily="18" charset="0"/>
                      </a:endParaRPr>
                    </a:p>
                  </a:txBody>
                  <a:tcPr/>
                </a:tc>
                <a:tc>
                  <a:txBody>
                    <a:bodyPr/>
                    <a:lstStyle/>
                    <a:p>
                      <a:r>
                        <a:rPr lang="da-DK" dirty="0">
                          <a:latin typeface="Times New Roman" panose="02020603050405020304" pitchFamily="18" charset="0"/>
                          <a:cs typeface="Times New Roman" panose="02020603050405020304" pitchFamily="18" charset="0"/>
                        </a:rPr>
                        <a:t>B. Nithin et al., 2022</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Proposed a comprehensive school bus monitoring system for student tracking, route monitoring, and parental notifications using GPS and cloud.</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Real-time GPS feed, student entry/exit timestamps, message alerts.</a:t>
                      </a:r>
                      <a:endParaRPr lang="en-IN" dirty="0">
                        <a:latin typeface="Times New Roman" panose="02020603050405020304" pitchFamily="18" charset="0"/>
                        <a:cs typeface="Times New Roman" panose="02020603050405020304" pitchFamily="18" charset="0"/>
                      </a:endParaRPr>
                    </a:p>
                  </a:txBody>
                  <a:tcPr/>
                </a:tc>
                <a:tc>
                  <a:txBody>
                    <a:bodyPr/>
                    <a:lstStyle/>
                    <a:p>
                      <a:r>
                        <a:rPr lang="en-IN" dirty="0">
                          <a:latin typeface="Times New Roman" panose="02020603050405020304" pitchFamily="18" charset="0"/>
                          <a:cs typeface="Times New Roman" panose="02020603050405020304" pitchFamily="18" charset="0"/>
                        </a:rPr>
                        <a:t>RFID with Wi-Fi cloud sync, GPS tracking, Arduino microcontroller, mobile app for live access.</a:t>
                      </a:r>
                    </a:p>
                  </a:txBody>
                  <a:tcPr/>
                </a:tc>
                <a:tc>
                  <a:txBody>
                    <a:bodyPr/>
                    <a:lstStyle/>
                    <a:p>
                      <a:r>
                        <a:rPr lang="en-US" dirty="0">
                          <a:latin typeface="Times New Roman" panose="02020603050405020304" pitchFamily="18" charset="0"/>
                          <a:cs typeface="Times New Roman" panose="02020603050405020304" pitchFamily="18" charset="0"/>
                        </a:rPr>
                        <a:t>Wi-Fi-only data transfer can limit range; RFID tags can be lost or forgotten.</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Improve with biometric verification, offline sync fallback, and automated route change alerts.</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87544255"/>
                  </a:ext>
                </a:extLst>
              </a:tr>
              <a:tr h="2695312">
                <a:tc>
                  <a:txBody>
                    <a:bodyPr/>
                    <a:lstStyle/>
                    <a:p>
                      <a:r>
                        <a:rPr lang="en-IN" dirty="0">
                          <a:latin typeface="Times New Roman" panose="02020603050405020304" pitchFamily="18" charset="0"/>
                          <a:cs typeface="Times New Roman" panose="02020603050405020304" pitchFamily="18" charset="0"/>
                        </a:rPr>
                        <a:t>4.</a:t>
                      </a:r>
                    </a:p>
                  </a:txBody>
                  <a:tcPr/>
                </a:tc>
                <a:tc>
                  <a:txBody>
                    <a:bodyPr/>
                    <a:lstStyle/>
                    <a:p>
                      <a:r>
                        <a:rPr lang="en-IN" dirty="0">
                          <a:latin typeface="Times New Roman" panose="02020603050405020304" pitchFamily="18" charset="0"/>
                          <a:cs typeface="Times New Roman" panose="02020603050405020304" pitchFamily="18" charset="0"/>
                        </a:rPr>
                        <a:t>M. Malleswari et al., 2018</a:t>
                      </a:r>
                    </a:p>
                  </a:txBody>
                  <a:tcPr/>
                </a:tc>
                <a:tc>
                  <a:txBody>
                    <a:bodyPr/>
                    <a:lstStyle/>
                    <a:p>
                      <a:r>
                        <a:rPr lang="en-US" dirty="0">
                          <a:latin typeface="Times New Roman" panose="02020603050405020304" pitchFamily="18" charset="0"/>
                          <a:cs typeface="Times New Roman" panose="02020603050405020304" pitchFamily="18" charset="0"/>
                        </a:rPr>
                        <a:t>Implemented a basic RFID-based college bus system that logs student details and location at a central base station via GSM and GPS.</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RFID logging, GPS-based location, data transmission via GSM to a local server.</a:t>
                      </a:r>
                      <a:endParaRPr lang="en-IN" dirty="0">
                        <a:latin typeface="Times New Roman" panose="02020603050405020304" pitchFamily="18" charset="0"/>
                        <a:cs typeface="Times New Roman" panose="02020603050405020304" pitchFamily="18" charset="0"/>
                      </a:endParaRPr>
                    </a:p>
                  </a:txBody>
                  <a:tcPr/>
                </a:tc>
                <a:tc>
                  <a:txBody>
                    <a:bodyPr/>
                    <a:lstStyle/>
                    <a:p>
                      <a:r>
                        <a:rPr lang="en-IN" dirty="0">
                          <a:latin typeface="Times New Roman" panose="02020603050405020304" pitchFamily="18" charset="0"/>
                          <a:cs typeface="Times New Roman" panose="02020603050405020304" pitchFamily="18" charset="0"/>
                        </a:rPr>
                        <a:t>GSM for data transfer, GPS for vehicle location, RFID for student validation; database logging via microcontroller.</a:t>
                      </a:r>
                    </a:p>
                  </a:txBody>
                  <a:tcPr/>
                </a:tc>
                <a:tc>
                  <a:txBody>
                    <a:bodyPr/>
                    <a:lstStyle/>
                    <a:p>
                      <a:r>
                        <a:rPr lang="en-US" dirty="0">
                          <a:latin typeface="Times New Roman" panose="02020603050405020304" pitchFamily="18" charset="0"/>
                          <a:cs typeface="Times New Roman" panose="02020603050405020304" pitchFamily="18" charset="0"/>
                        </a:rPr>
                        <a:t>No mobile/cloud access, outdated notification </a:t>
                      </a:r>
                      <a:r>
                        <a:rPr lang="en-US" dirty="0" err="1">
                          <a:latin typeface="Times New Roman" panose="02020603050405020304" pitchFamily="18" charset="0"/>
                          <a:cs typeface="Times New Roman" panose="02020603050405020304" pitchFamily="18" charset="0"/>
                        </a:rPr>
                        <a:t>system,lacks</a:t>
                      </a:r>
                      <a:r>
                        <a:rPr lang="en-US" dirty="0">
                          <a:latin typeface="Times New Roman" panose="02020603050405020304" pitchFamily="18" charset="0"/>
                          <a:cs typeface="Times New Roman" panose="02020603050405020304" pitchFamily="18" charset="0"/>
                        </a:rPr>
                        <a:t> interface for parents.</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Upgrade to IoT cloud-based model, include app integration and smart dashboard analytics for admin.</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168759713"/>
                  </a:ext>
                </a:extLst>
              </a:tr>
            </a:tbl>
          </a:graphicData>
        </a:graphic>
      </p:graphicFrame>
    </p:spTree>
    <p:extLst>
      <p:ext uri="{BB962C8B-B14F-4D97-AF65-F5344CB8AC3E}">
        <p14:creationId xmlns:p14="http://schemas.microsoft.com/office/powerpoint/2010/main" val="30662589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3FA67E-0118-B768-CCD5-C06F2492F00A}"/>
              </a:ext>
            </a:extLst>
          </p:cNvPr>
          <p:cNvSpPr>
            <a:spLocks noGrp="1"/>
          </p:cNvSpPr>
          <p:nvPr>
            <p:ph type="title"/>
          </p:nvPr>
        </p:nvSpPr>
        <p:spPr>
          <a:xfrm>
            <a:off x="838200" y="131861"/>
            <a:ext cx="10515600" cy="633250"/>
          </a:xfrm>
        </p:spPr>
        <p:txBody>
          <a:bodyPr>
            <a:normAutofit/>
          </a:bodyPr>
          <a:lstStyle/>
          <a:p>
            <a:pPr algn="ctr"/>
            <a:r>
              <a:rPr lang="en-IN" sz="3200" b="1" dirty="0">
                <a:solidFill>
                  <a:schemeClr val="accent1"/>
                </a:solidFill>
                <a:latin typeface="Times New Roman" panose="02020603050405020304" pitchFamily="18" charset="0"/>
                <a:cs typeface="Times New Roman" panose="02020603050405020304" pitchFamily="18" charset="0"/>
              </a:rPr>
              <a:t>Problem Statement</a:t>
            </a:r>
          </a:p>
        </p:txBody>
      </p:sp>
      <p:sp>
        <p:nvSpPr>
          <p:cNvPr id="3" name="Content Placeholder 2">
            <a:extLst>
              <a:ext uri="{FF2B5EF4-FFF2-40B4-BE49-F238E27FC236}">
                <a16:creationId xmlns:a16="http://schemas.microsoft.com/office/drawing/2014/main" id="{F274DC2B-9361-64B6-828C-BFDF1DDEF703}"/>
              </a:ext>
            </a:extLst>
          </p:cNvPr>
          <p:cNvSpPr>
            <a:spLocks noGrp="1"/>
          </p:cNvSpPr>
          <p:nvPr>
            <p:ph idx="1"/>
          </p:nvPr>
        </p:nvSpPr>
        <p:spPr>
          <a:xfrm>
            <a:off x="522515" y="1060514"/>
            <a:ext cx="11103428" cy="4351338"/>
          </a:xfrm>
        </p:spPr>
        <p:txBody>
          <a:bodyPr>
            <a:normAutofit/>
          </a:bodyPr>
          <a:lstStyle/>
          <a:p>
            <a:pPr marL="0" indent="0" algn="just">
              <a:lnSpc>
                <a:spcPct val="100000"/>
              </a:lnSpc>
              <a:buNone/>
            </a:pPr>
            <a:r>
              <a:rPr lang="en-US" sz="2000" dirty="0">
                <a:latin typeface="Times New Roman" panose="02020603050405020304" pitchFamily="18" charset="0"/>
                <a:cs typeface="Times New Roman" panose="02020603050405020304" pitchFamily="18" charset="0"/>
              </a:rPr>
              <a:t>In conventional school bus systems, there is no real-time student tracking, making it difficult for parents and schools to ensure safety during transit. Manually checking student presence is time-consuming and lacks reliability. Additionally, the lack of an authentication mechanism allows unauthorized access, posing serious security risks.</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831189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642984-9325-A957-23D6-9CA198CFF71D}"/>
              </a:ext>
            </a:extLst>
          </p:cNvPr>
          <p:cNvSpPr>
            <a:spLocks noGrp="1"/>
          </p:cNvSpPr>
          <p:nvPr>
            <p:ph type="title"/>
          </p:nvPr>
        </p:nvSpPr>
        <p:spPr>
          <a:xfrm>
            <a:off x="838200" y="131762"/>
            <a:ext cx="10515600" cy="549275"/>
          </a:xfrm>
        </p:spPr>
        <p:txBody>
          <a:bodyPr>
            <a:normAutofit/>
          </a:bodyPr>
          <a:lstStyle/>
          <a:p>
            <a:pPr algn="ctr"/>
            <a:r>
              <a:rPr lang="en-IN" sz="3200" b="1" dirty="0">
                <a:solidFill>
                  <a:schemeClr val="accent1"/>
                </a:solidFill>
                <a:latin typeface="Times New Roman" panose="02020603050405020304" pitchFamily="18" charset="0"/>
                <a:cs typeface="Times New Roman" panose="02020603050405020304" pitchFamily="18" charset="0"/>
              </a:rPr>
              <a:t>Objectives</a:t>
            </a:r>
          </a:p>
        </p:txBody>
      </p:sp>
      <p:sp>
        <p:nvSpPr>
          <p:cNvPr id="3" name="Content Placeholder 2">
            <a:extLst>
              <a:ext uri="{FF2B5EF4-FFF2-40B4-BE49-F238E27FC236}">
                <a16:creationId xmlns:a16="http://schemas.microsoft.com/office/drawing/2014/main" id="{11FA605A-208A-CB8B-270A-6B508FD1A89F}"/>
              </a:ext>
            </a:extLst>
          </p:cNvPr>
          <p:cNvSpPr>
            <a:spLocks noGrp="1"/>
          </p:cNvSpPr>
          <p:nvPr>
            <p:ph idx="1"/>
          </p:nvPr>
        </p:nvSpPr>
        <p:spPr>
          <a:xfrm>
            <a:off x="363893" y="867747"/>
            <a:ext cx="11262049" cy="5309216"/>
          </a:xfrm>
        </p:spPr>
        <p:txBody>
          <a:bodyPr/>
          <a:lstStyle/>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To develop a smart school bus management system that ensures student security using RFID authentication, real-time GPS tracking, automated door locking, and IoT integration for monitoring.</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To provide a user-friendly interface for parents and school administrators to monitor bus location and student entry logs.</a:t>
            </a:r>
          </a:p>
          <a:p>
            <a:pPr marL="0" indent="0">
              <a:buNone/>
            </a:pPr>
            <a:endParaRPr lang="en-IN" dirty="0"/>
          </a:p>
        </p:txBody>
      </p:sp>
    </p:spTree>
    <p:extLst>
      <p:ext uri="{BB962C8B-B14F-4D97-AF65-F5344CB8AC3E}">
        <p14:creationId xmlns:p14="http://schemas.microsoft.com/office/powerpoint/2010/main" val="288154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63CE30-6C61-1B8A-8186-BFD4F7514F1E}"/>
              </a:ext>
            </a:extLst>
          </p:cNvPr>
          <p:cNvSpPr>
            <a:spLocks noGrp="1"/>
          </p:cNvSpPr>
          <p:nvPr>
            <p:ph type="title"/>
          </p:nvPr>
        </p:nvSpPr>
        <p:spPr>
          <a:xfrm>
            <a:off x="838200" y="103869"/>
            <a:ext cx="10515600" cy="661241"/>
          </a:xfrm>
        </p:spPr>
        <p:txBody>
          <a:bodyPr>
            <a:normAutofit/>
          </a:bodyPr>
          <a:lstStyle/>
          <a:p>
            <a:pPr algn="ctr"/>
            <a:r>
              <a:rPr lang="en-IN" sz="3200" b="1" dirty="0">
                <a:solidFill>
                  <a:schemeClr val="accent1"/>
                </a:solidFill>
                <a:latin typeface="Times New Roman" panose="02020603050405020304" pitchFamily="18" charset="0"/>
                <a:cs typeface="Times New Roman" panose="02020603050405020304" pitchFamily="18" charset="0"/>
              </a:rPr>
              <a:t>Block Diagram</a:t>
            </a:r>
          </a:p>
        </p:txBody>
      </p:sp>
      <p:sp>
        <p:nvSpPr>
          <p:cNvPr id="3" name="Content Placeholder 2">
            <a:extLst>
              <a:ext uri="{FF2B5EF4-FFF2-40B4-BE49-F238E27FC236}">
                <a16:creationId xmlns:a16="http://schemas.microsoft.com/office/drawing/2014/main" id="{8790AF67-DF64-A276-09B9-5201AA0492E6}"/>
              </a:ext>
            </a:extLst>
          </p:cNvPr>
          <p:cNvSpPr>
            <a:spLocks noGrp="1"/>
          </p:cNvSpPr>
          <p:nvPr>
            <p:ph idx="1"/>
          </p:nvPr>
        </p:nvSpPr>
        <p:spPr>
          <a:xfrm>
            <a:off x="597159" y="895739"/>
            <a:ext cx="10982131" cy="5551714"/>
          </a:xfrm>
        </p:spPr>
        <p:txBody>
          <a:bodyPr/>
          <a:lstStyle/>
          <a:p>
            <a:pPr marL="0" indent="0">
              <a:buNone/>
            </a:pPr>
            <a:endParaRPr lang="en-IN" dirty="0"/>
          </a:p>
        </p:txBody>
      </p:sp>
      <p:sp>
        <p:nvSpPr>
          <p:cNvPr id="5" name="Rectangle 4">
            <a:extLst>
              <a:ext uri="{FF2B5EF4-FFF2-40B4-BE49-F238E27FC236}">
                <a16:creationId xmlns:a16="http://schemas.microsoft.com/office/drawing/2014/main" id="{18C268CA-2055-C34A-DFFA-4CEA903409EC}"/>
              </a:ext>
            </a:extLst>
          </p:cNvPr>
          <p:cNvSpPr/>
          <p:nvPr/>
        </p:nvSpPr>
        <p:spPr>
          <a:xfrm>
            <a:off x="4702628" y="2006081"/>
            <a:ext cx="2136712" cy="3331029"/>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ln w="0"/>
                <a:solidFill>
                  <a:schemeClr val="tx1"/>
                </a:solidFill>
                <a:latin typeface="Times New Roman" panose="02020603050405020304" pitchFamily="18" charset="0"/>
                <a:cs typeface="Times New Roman" panose="02020603050405020304" pitchFamily="18" charset="0"/>
              </a:rPr>
              <a:t>ESP WROOM 32</a:t>
            </a:r>
          </a:p>
        </p:txBody>
      </p:sp>
      <p:sp>
        <p:nvSpPr>
          <p:cNvPr id="6" name="Arrow: Left-Right 5">
            <a:extLst>
              <a:ext uri="{FF2B5EF4-FFF2-40B4-BE49-F238E27FC236}">
                <a16:creationId xmlns:a16="http://schemas.microsoft.com/office/drawing/2014/main" id="{DC8702E7-B8DA-6B4C-8F0E-A1BA17DA4589}"/>
              </a:ext>
            </a:extLst>
          </p:cNvPr>
          <p:cNvSpPr/>
          <p:nvPr/>
        </p:nvSpPr>
        <p:spPr>
          <a:xfrm>
            <a:off x="3797558" y="2174032"/>
            <a:ext cx="905069" cy="167951"/>
          </a:xfrm>
          <a:prstGeom prst="leftRightArrow">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6">
            <a:extLst>
              <a:ext uri="{FF2B5EF4-FFF2-40B4-BE49-F238E27FC236}">
                <a16:creationId xmlns:a16="http://schemas.microsoft.com/office/drawing/2014/main" id="{F24243DF-B16F-EDA7-EAD2-694A9C69A869}"/>
              </a:ext>
            </a:extLst>
          </p:cNvPr>
          <p:cNvSpPr/>
          <p:nvPr/>
        </p:nvSpPr>
        <p:spPr>
          <a:xfrm>
            <a:off x="2351313" y="2080727"/>
            <a:ext cx="1446243" cy="538842"/>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IN">
                <a:latin typeface="Times New Roman" panose="02020603050405020304" pitchFamily="18" charset="0"/>
                <a:cs typeface="Times New Roman" panose="02020603050405020304" pitchFamily="18" charset="0"/>
              </a:rPr>
              <a:t>IoT </a:t>
            </a:r>
            <a:r>
              <a:rPr lang="en-IN" dirty="0">
                <a:latin typeface="Times New Roman" panose="02020603050405020304" pitchFamily="18" charset="0"/>
                <a:cs typeface="Times New Roman" panose="02020603050405020304" pitchFamily="18" charset="0"/>
              </a:rPr>
              <a:t>cloud</a:t>
            </a:r>
          </a:p>
        </p:txBody>
      </p:sp>
      <p:sp>
        <p:nvSpPr>
          <p:cNvPr id="8" name="Arrow: Right 7">
            <a:extLst>
              <a:ext uri="{FF2B5EF4-FFF2-40B4-BE49-F238E27FC236}">
                <a16:creationId xmlns:a16="http://schemas.microsoft.com/office/drawing/2014/main" id="{7C586846-35FE-BCF6-84EE-A39BEA5691DB}"/>
              </a:ext>
            </a:extLst>
          </p:cNvPr>
          <p:cNvSpPr/>
          <p:nvPr/>
        </p:nvSpPr>
        <p:spPr>
          <a:xfrm>
            <a:off x="3797556" y="3151414"/>
            <a:ext cx="905071" cy="167951"/>
          </a:xfrm>
          <a:prstGeom prst="right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ectangle 8">
            <a:extLst>
              <a:ext uri="{FF2B5EF4-FFF2-40B4-BE49-F238E27FC236}">
                <a16:creationId xmlns:a16="http://schemas.microsoft.com/office/drawing/2014/main" id="{BFC4AC84-BDA9-2035-177E-5EDC57C385E1}"/>
              </a:ext>
            </a:extLst>
          </p:cNvPr>
          <p:cNvSpPr/>
          <p:nvPr/>
        </p:nvSpPr>
        <p:spPr>
          <a:xfrm>
            <a:off x="2351313" y="3055776"/>
            <a:ext cx="1446243" cy="373224"/>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latin typeface="Times New Roman" panose="02020603050405020304" pitchFamily="18" charset="0"/>
                <a:cs typeface="Times New Roman" panose="02020603050405020304" pitchFamily="18" charset="0"/>
              </a:rPr>
              <a:t>GPS Neo 6M</a:t>
            </a:r>
          </a:p>
        </p:txBody>
      </p:sp>
      <p:sp>
        <p:nvSpPr>
          <p:cNvPr id="10" name="Arrow: Right 9">
            <a:extLst>
              <a:ext uri="{FF2B5EF4-FFF2-40B4-BE49-F238E27FC236}">
                <a16:creationId xmlns:a16="http://schemas.microsoft.com/office/drawing/2014/main" id="{D8F4F430-4A6A-AF02-170A-FECA5DCFAC6B}"/>
              </a:ext>
            </a:extLst>
          </p:cNvPr>
          <p:cNvSpPr/>
          <p:nvPr/>
        </p:nvSpPr>
        <p:spPr>
          <a:xfrm>
            <a:off x="3797555" y="4238431"/>
            <a:ext cx="905072" cy="167951"/>
          </a:xfrm>
          <a:prstGeom prst="right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ectangle 10">
            <a:extLst>
              <a:ext uri="{FF2B5EF4-FFF2-40B4-BE49-F238E27FC236}">
                <a16:creationId xmlns:a16="http://schemas.microsoft.com/office/drawing/2014/main" id="{D7617A62-EA20-748D-2AA9-6F5E46E8B1A5}"/>
              </a:ext>
            </a:extLst>
          </p:cNvPr>
          <p:cNvSpPr/>
          <p:nvPr/>
        </p:nvSpPr>
        <p:spPr>
          <a:xfrm>
            <a:off x="2351313" y="4105469"/>
            <a:ext cx="1446242" cy="506186"/>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latin typeface="Times New Roman" panose="02020603050405020304" pitchFamily="18" charset="0"/>
                <a:cs typeface="Times New Roman" panose="02020603050405020304" pitchFamily="18" charset="0"/>
              </a:rPr>
              <a:t>RFID Scanner</a:t>
            </a:r>
          </a:p>
        </p:txBody>
      </p:sp>
      <p:sp>
        <p:nvSpPr>
          <p:cNvPr id="12" name="Arrow: Up 11">
            <a:extLst>
              <a:ext uri="{FF2B5EF4-FFF2-40B4-BE49-F238E27FC236}">
                <a16:creationId xmlns:a16="http://schemas.microsoft.com/office/drawing/2014/main" id="{C35BE6D0-194A-CB68-7E4B-84A4D913EF32}"/>
              </a:ext>
            </a:extLst>
          </p:cNvPr>
          <p:cNvSpPr/>
          <p:nvPr/>
        </p:nvSpPr>
        <p:spPr>
          <a:xfrm>
            <a:off x="5691673" y="5337110"/>
            <a:ext cx="158621" cy="391886"/>
          </a:xfrm>
          <a:prstGeom prst="up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Rectangle 12">
            <a:extLst>
              <a:ext uri="{FF2B5EF4-FFF2-40B4-BE49-F238E27FC236}">
                <a16:creationId xmlns:a16="http://schemas.microsoft.com/office/drawing/2014/main" id="{B8278071-C586-78F7-CB66-ACBB334D1D75}"/>
              </a:ext>
            </a:extLst>
          </p:cNvPr>
          <p:cNvSpPr/>
          <p:nvPr/>
        </p:nvSpPr>
        <p:spPr>
          <a:xfrm>
            <a:off x="5029200" y="5728995"/>
            <a:ext cx="1502229" cy="54117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latin typeface="Times New Roman" panose="02020603050405020304" pitchFamily="18" charset="0"/>
                <a:cs typeface="Times New Roman" panose="02020603050405020304" pitchFamily="18" charset="0"/>
              </a:rPr>
              <a:t>12V Power Supply</a:t>
            </a:r>
            <a:endParaRPr lang="en-IN" dirty="0">
              <a:solidFill>
                <a:schemeClr val="tx1"/>
              </a:solidFill>
            </a:endParaRPr>
          </a:p>
        </p:txBody>
      </p:sp>
      <p:sp>
        <p:nvSpPr>
          <p:cNvPr id="14" name="Arrow: Up 13">
            <a:extLst>
              <a:ext uri="{FF2B5EF4-FFF2-40B4-BE49-F238E27FC236}">
                <a16:creationId xmlns:a16="http://schemas.microsoft.com/office/drawing/2014/main" id="{47CBF798-A766-6642-7843-0A78ED3D40CB}"/>
              </a:ext>
            </a:extLst>
          </p:cNvPr>
          <p:cNvSpPr/>
          <p:nvPr/>
        </p:nvSpPr>
        <p:spPr>
          <a:xfrm>
            <a:off x="5691673" y="1614194"/>
            <a:ext cx="158621" cy="395899"/>
          </a:xfrm>
          <a:prstGeom prst="up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Rectangle 14">
            <a:extLst>
              <a:ext uri="{FF2B5EF4-FFF2-40B4-BE49-F238E27FC236}">
                <a16:creationId xmlns:a16="http://schemas.microsoft.com/office/drawing/2014/main" id="{424210B8-EC01-0FAD-0D10-291EB16B6B2E}"/>
              </a:ext>
            </a:extLst>
          </p:cNvPr>
          <p:cNvSpPr/>
          <p:nvPr/>
        </p:nvSpPr>
        <p:spPr>
          <a:xfrm>
            <a:off x="5029201" y="1156996"/>
            <a:ext cx="1502228" cy="457198"/>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latin typeface="Times New Roman" panose="02020603050405020304" pitchFamily="18" charset="0"/>
                <a:cs typeface="Times New Roman" panose="02020603050405020304" pitchFamily="18" charset="0"/>
              </a:rPr>
              <a:t>LCD 16X2</a:t>
            </a:r>
          </a:p>
        </p:txBody>
      </p:sp>
      <p:sp>
        <p:nvSpPr>
          <p:cNvPr id="16" name="Arrow: Right 15">
            <a:extLst>
              <a:ext uri="{FF2B5EF4-FFF2-40B4-BE49-F238E27FC236}">
                <a16:creationId xmlns:a16="http://schemas.microsoft.com/office/drawing/2014/main" id="{3E870E6E-9EDC-B782-4399-EA9642CDD9ED}"/>
              </a:ext>
            </a:extLst>
          </p:cNvPr>
          <p:cNvSpPr/>
          <p:nvPr/>
        </p:nvSpPr>
        <p:spPr>
          <a:xfrm>
            <a:off x="6839340" y="2174032"/>
            <a:ext cx="783770" cy="167951"/>
          </a:xfrm>
          <a:prstGeom prst="right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Rectangle 16">
            <a:extLst>
              <a:ext uri="{FF2B5EF4-FFF2-40B4-BE49-F238E27FC236}">
                <a16:creationId xmlns:a16="http://schemas.microsoft.com/office/drawing/2014/main" id="{619B351C-E0CA-484F-5EF8-56B7136D1E3B}"/>
              </a:ext>
            </a:extLst>
          </p:cNvPr>
          <p:cNvSpPr/>
          <p:nvPr/>
        </p:nvSpPr>
        <p:spPr>
          <a:xfrm>
            <a:off x="7623110" y="1810139"/>
            <a:ext cx="1558212" cy="809430"/>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latin typeface="Times New Roman" panose="02020603050405020304" pitchFamily="18" charset="0"/>
                <a:cs typeface="Times New Roman" panose="02020603050405020304" pitchFamily="18" charset="0"/>
              </a:rPr>
              <a:t> LED,</a:t>
            </a:r>
          </a:p>
          <a:p>
            <a:pPr algn="ctr"/>
            <a:r>
              <a:rPr lang="en-IN" dirty="0">
                <a:latin typeface="Times New Roman" panose="02020603050405020304" pitchFamily="18" charset="0"/>
                <a:cs typeface="Times New Roman" panose="02020603050405020304" pitchFamily="18" charset="0"/>
              </a:rPr>
              <a:t>Buzzer</a:t>
            </a:r>
          </a:p>
        </p:txBody>
      </p:sp>
      <p:sp>
        <p:nvSpPr>
          <p:cNvPr id="18" name="Arrow: Right 17">
            <a:extLst>
              <a:ext uri="{FF2B5EF4-FFF2-40B4-BE49-F238E27FC236}">
                <a16:creationId xmlns:a16="http://schemas.microsoft.com/office/drawing/2014/main" id="{A83AE1E5-2BE5-4BBB-D565-EA447DB6E66F}"/>
              </a:ext>
            </a:extLst>
          </p:cNvPr>
          <p:cNvSpPr/>
          <p:nvPr/>
        </p:nvSpPr>
        <p:spPr>
          <a:xfrm>
            <a:off x="6839340" y="3151413"/>
            <a:ext cx="783770" cy="167951"/>
          </a:xfrm>
          <a:prstGeom prst="right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Rectangle 18">
            <a:extLst>
              <a:ext uri="{FF2B5EF4-FFF2-40B4-BE49-F238E27FC236}">
                <a16:creationId xmlns:a16="http://schemas.microsoft.com/office/drawing/2014/main" id="{D463A30B-EDCC-1452-19B0-F65A49C595E9}"/>
              </a:ext>
            </a:extLst>
          </p:cNvPr>
          <p:cNvSpPr/>
          <p:nvPr/>
        </p:nvSpPr>
        <p:spPr>
          <a:xfrm>
            <a:off x="7646436" y="3055774"/>
            <a:ext cx="1558212" cy="373225"/>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latin typeface="Times New Roman" panose="02020603050405020304" pitchFamily="18" charset="0"/>
                <a:cs typeface="Times New Roman" panose="02020603050405020304" pitchFamily="18" charset="0"/>
              </a:rPr>
              <a:t>Relay</a:t>
            </a:r>
          </a:p>
        </p:txBody>
      </p:sp>
      <p:sp>
        <p:nvSpPr>
          <p:cNvPr id="20" name="Arrow: Down 19">
            <a:extLst>
              <a:ext uri="{FF2B5EF4-FFF2-40B4-BE49-F238E27FC236}">
                <a16:creationId xmlns:a16="http://schemas.microsoft.com/office/drawing/2014/main" id="{3D65DBF2-3E3A-96AE-6BC3-7E0CF8E671CA}"/>
              </a:ext>
            </a:extLst>
          </p:cNvPr>
          <p:cNvSpPr/>
          <p:nvPr/>
        </p:nvSpPr>
        <p:spPr>
          <a:xfrm>
            <a:off x="8223908" y="3432918"/>
            <a:ext cx="182974" cy="805513"/>
          </a:xfrm>
          <a:prstGeom prst="down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Rectangle 20">
            <a:extLst>
              <a:ext uri="{FF2B5EF4-FFF2-40B4-BE49-F238E27FC236}">
                <a16:creationId xmlns:a16="http://schemas.microsoft.com/office/drawing/2014/main" id="{A99E48F3-9BA8-EEF6-BEB6-D61743429A04}"/>
              </a:ext>
            </a:extLst>
          </p:cNvPr>
          <p:cNvSpPr/>
          <p:nvPr/>
        </p:nvSpPr>
        <p:spPr>
          <a:xfrm>
            <a:off x="7646435" y="4238431"/>
            <a:ext cx="1558212" cy="373224"/>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latin typeface="Times New Roman" panose="02020603050405020304" pitchFamily="18" charset="0"/>
                <a:cs typeface="Times New Roman" panose="02020603050405020304" pitchFamily="18" charset="0"/>
              </a:rPr>
              <a:t>Solenoid Lock</a:t>
            </a:r>
          </a:p>
        </p:txBody>
      </p:sp>
    </p:spTree>
    <p:extLst>
      <p:ext uri="{BB962C8B-B14F-4D97-AF65-F5344CB8AC3E}">
        <p14:creationId xmlns:p14="http://schemas.microsoft.com/office/powerpoint/2010/main" val="42421993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A35886-F477-1809-2B31-8FCE8DC2CD98}"/>
              </a:ext>
            </a:extLst>
          </p:cNvPr>
          <p:cNvSpPr>
            <a:spLocks noGrp="1"/>
          </p:cNvSpPr>
          <p:nvPr>
            <p:ph type="title"/>
          </p:nvPr>
        </p:nvSpPr>
        <p:spPr>
          <a:xfrm>
            <a:off x="838200" y="121298"/>
            <a:ext cx="10515600" cy="653143"/>
          </a:xfrm>
        </p:spPr>
        <p:txBody>
          <a:bodyPr>
            <a:normAutofit/>
          </a:bodyPr>
          <a:lstStyle/>
          <a:p>
            <a:pPr algn="ctr"/>
            <a:r>
              <a:rPr lang="en-IN" sz="3200" b="1" dirty="0">
                <a:solidFill>
                  <a:schemeClr val="accent1"/>
                </a:solidFill>
                <a:latin typeface="Times New Roman" panose="02020603050405020304" pitchFamily="18" charset="0"/>
                <a:cs typeface="Times New Roman" panose="02020603050405020304" pitchFamily="18" charset="0"/>
              </a:rPr>
              <a:t>Methodology</a:t>
            </a:r>
          </a:p>
        </p:txBody>
      </p:sp>
      <p:sp>
        <p:nvSpPr>
          <p:cNvPr id="3" name="Content Placeholder 2">
            <a:extLst>
              <a:ext uri="{FF2B5EF4-FFF2-40B4-BE49-F238E27FC236}">
                <a16:creationId xmlns:a16="http://schemas.microsoft.com/office/drawing/2014/main" id="{318A89C2-42F2-561B-81C7-E9AC8D0E7131}"/>
              </a:ext>
            </a:extLst>
          </p:cNvPr>
          <p:cNvSpPr>
            <a:spLocks noGrp="1"/>
          </p:cNvSpPr>
          <p:nvPr>
            <p:ph idx="1"/>
          </p:nvPr>
        </p:nvSpPr>
        <p:spPr>
          <a:xfrm>
            <a:off x="457200" y="858416"/>
            <a:ext cx="11308702" cy="5318547"/>
          </a:xfrm>
        </p:spPr>
        <p:txBody>
          <a:bodyPr>
            <a:normAutofit/>
          </a:bodyPr>
          <a:lstStyle/>
          <a:p>
            <a:pPr algn="just"/>
            <a:r>
              <a:rPr lang="en-US" sz="2400" dirty="0">
                <a:latin typeface="Times New Roman" panose="02020603050405020304" pitchFamily="18" charset="0"/>
                <a:cs typeface="Times New Roman" panose="02020603050405020304" pitchFamily="18" charset="0"/>
              </a:rPr>
              <a:t>The IoT-based school bus management system begins with each student scanning their RFID card while boarding the bus.</a:t>
            </a:r>
          </a:p>
          <a:p>
            <a:pPr algn="just">
              <a:lnSpc>
                <a:spcPct val="100000"/>
              </a:lnSpc>
            </a:pPr>
            <a:r>
              <a:rPr lang="en-US" sz="2400" dirty="0">
                <a:latin typeface="Times New Roman" panose="02020603050405020304" pitchFamily="18" charset="0"/>
                <a:cs typeface="Times New Roman" panose="02020603050405020304" pitchFamily="18" charset="0"/>
              </a:rPr>
              <a:t>The RFID scanner reads the card data and sends it to the ESP WROOM 32 microcontroller for verification. Once authenticated, the ESP WROOM 32 activates the relay to unlock the solenoid lock, allowing the student to enter.</a:t>
            </a:r>
          </a:p>
          <a:p>
            <a:pPr algn="just">
              <a:lnSpc>
                <a:spcPct val="100000"/>
              </a:lnSpc>
            </a:pPr>
            <a:r>
              <a:rPr lang="en-US" sz="2400" dirty="0">
                <a:latin typeface="Times New Roman" panose="02020603050405020304" pitchFamily="18" charset="0"/>
                <a:cs typeface="Times New Roman" panose="02020603050405020304" pitchFamily="18" charset="0"/>
              </a:rPr>
              <a:t>Simultaneously, the GPS module captures the live location of the bus, and all data—student ID, time of entry, and location—is uploaded to the IoT cloud platform for remote monitoring.</a:t>
            </a:r>
          </a:p>
          <a:p>
            <a:pPr algn="just">
              <a:lnSpc>
                <a:spcPct val="100000"/>
              </a:lnSpc>
            </a:pPr>
            <a:r>
              <a:rPr lang="en-US" sz="2400" dirty="0">
                <a:latin typeface="Times New Roman" panose="02020603050405020304" pitchFamily="18" charset="0"/>
                <a:cs typeface="Times New Roman" panose="02020603050405020304" pitchFamily="18" charset="0"/>
              </a:rPr>
              <a:t>The system also triggers a buzzer and LED for safety alerts, while an LCD display shows real-time authentication results. This method ensures a secure, automated, and trackable transportation system.</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546166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04671D-8E18-53F2-BB5E-64D633CC6287}"/>
              </a:ext>
            </a:extLst>
          </p:cNvPr>
          <p:cNvSpPr>
            <a:spLocks noGrp="1"/>
          </p:cNvSpPr>
          <p:nvPr>
            <p:ph type="title"/>
          </p:nvPr>
        </p:nvSpPr>
        <p:spPr>
          <a:xfrm>
            <a:off x="838200" y="84842"/>
            <a:ext cx="10515600" cy="596196"/>
          </a:xfrm>
        </p:spPr>
        <p:txBody>
          <a:bodyPr>
            <a:normAutofit/>
          </a:bodyPr>
          <a:lstStyle/>
          <a:p>
            <a:pPr algn="ctr"/>
            <a:r>
              <a:rPr lang="en-US" sz="3200" b="1" dirty="0">
                <a:solidFill>
                  <a:schemeClr val="accent1"/>
                </a:solidFill>
                <a:latin typeface="Times New Roman" panose="02020603050405020304" pitchFamily="18" charset="0"/>
                <a:cs typeface="Times New Roman" panose="02020603050405020304" pitchFamily="18" charset="0"/>
              </a:rPr>
              <a:t>Flow Chart</a:t>
            </a:r>
            <a:endParaRPr lang="en-IN" sz="3200" b="1" dirty="0">
              <a:solidFill>
                <a:schemeClr val="accent1"/>
              </a:solidFill>
              <a:latin typeface="Times New Roman" panose="02020603050405020304" pitchFamily="18" charset="0"/>
              <a:cs typeface="Times New Roman" panose="02020603050405020304" pitchFamily="18" charset="0"/>
            </a:endParaRPr>
          </a:p>
        </p:txBody>
      </p:sp>
      <p:pic>
        <p:nvPicPr>
          <p:cNvPr id="9" name="Content Placeholder 8">
            <a:extLst>
              <a:ext uri="{FF2B5EF4-FFF2-40B4-BE49-F238E27FC236}">
                <a16:creationId xmlns:a16="http://schemas.microsoft.com/office/drawing/2014/main" id="{1AD2EA87-64DE-26F5-EE10-1D716D63F1F8}"/>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32394" t="21305" r="27735" b="15778"/>
          <a:stretch>
            <a:fillRect/>
          </a:stretch>
        </p:blipFill>
        <p:spPr>
          <a:xfrm>
            <a:off x="678730" y="763571"/>
            <a:ext cx="10831397" cy="5891753"/>
          </a:xfrm>
        </p:spPr>
      </p:pic>
    </p:spTree>
    <p:extLst>
      <p:ext uri="{BB962C8B-B14F-4D97-AF65-F5344CB8AC3E}">
        <p14:creationId xmlns:p14="http://schemas.microsoft.com/office/powerpoint/2010/main" val="20165209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5FA291-8D86-FFB8-6524-655CCC25749D}"/>
              </a:ext>
            </a:extLst>
          </p:cNvPr>
          <p:cNvSpPr>
            <a:spLocks noGrp="1"/>
          </p:cNvSpPr>
          <p:nvPr>
            <p:ph type="title"/>
          </p:nvPr>
        </p:nvSpPr>
        <p:spPr>
          <a:xfrm>
            <a:off x="838200" y="197963"/>
            <a:ext cx="10515600" cy="575035"/>
          </a:xfrm>
        </p:spPr>
        <p:txBody>
          <a:bodyPr>
            <a:normAutofit/>
          </a:bodyPr>
          <a:lstStyle/>
          <a:p>
            <a:pPr algn="ctr"/>
            <a:r>
              <a:rPr lang="en-US" sz="3200" b="1" dirty="0">
                <a:solidFill>
                  <a:schemeClr val="accent1"/>
                </a:solidFill>
                <a:latin typeface="Times New Roman" panose="02020603050405020304" pitchFamily="18" charset="0"/>
                <a:cs typeface="Times New Roman" panose="02020603050405020304" pitchFamily="18" charset="0"/>
              </a:rPr>
              <a:t>Circuit Diagram</a:t>
            </a:r>
            <a:endParaRPr lang="en-IN" sz="3200" b="1" dirty="0">
              <a:solidFill>
                <a:schemeClr val="accent1"/>
              </a:solidFill>
              <a:latin typeface="Times New Roman" panose="02020603050405020304" pitchFamily="18" charset="0"/>
              <a:cs typeface="Times New Roman" panose="02020603050405020304" pitchFamily="18" charset="0"/>
            </a:endParaRPr>
          </a:p>
        </p:txBody>
      </p:sp>
      <p:pic>
        <p:nvPicPr>
          <p:cNvPr id="5" name="Content Placeholder 4">
            <a:extLst>
              <a:ext uri="{FF2B5EF4-FFF2-40B4-BE49-F238E27FC236}">
                <a16:creationId xmlns:a16="http://schemas.microsoft.com/office/drawing/2014/main" id="{91501C1D-712B-370F-52F5-EADEDAEBE5A2}"/>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21926" t="16936" r="8356" b="7493"/>
          <a:stretch>
            <a:fillRect/>
          </a:stretch>
        </p:blipFill>
        <p:spPr>
          <a:xfrm>
            <a:off x="1102936" y="961534"/>
            <a:ext cx="10250863" cy="5552388"/>
          </a:xfrm>
        </p:spPr>
      </p:pic>
    </p:spTree>
    <p:extLst>
      <p:ext uri="{BB962C8B-B14F-4D97-AF65-F5344CB8AC3E}">
        <p14:creationId xmlns:p14="http://schemas.microsoft.com/office/powerpoint/2010/main" val="12959617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1E6CD-3FC5-FE9B-AB26-8BDAC0DCDB20}"/>
              </a:ext>
            </a:extLst>
          </p:cNvPr>
          <p:cNvSpPr>
            <a:spLocks noGrp="1"/>
          </p:cNvSpPr>
          <p:nvPr>
            <p:ph type="title"/>
          </p:nvPr>
        </p:nvSpPr>
        <p:spPr>
          <a:xfrm>
            <a:off x="838200" y="75877"/>
            <a:ext cx="10515600" cy="810532"/>
          </a:xfrm>
        </p:spPr>
        <p:txBody>
          <a:bodyPr>
            <a:normAutofit/>
          </a:bodyPr>
          <a:lstStyle/>
          <a:p>
            <a:pPr algn="ctr"/>
            <a:r>
              <a:rPr lang="en-IN" sz="3200" b="1" dirty="0">
                <a:solidFill>
                  <a:schemeClr val="accent1"/>
                </a:solidFill>
                <a:latin typeface="Times New Roman" panose="02020603050405020304" pitchFamily="18" charset="0"/>
                <a:cs typeface="Times New Roman" panose="02020603050405020304" pitchFamily="18" charset="0"/>
              </a:rPr>
              <a:t>Hardware Requirements</a:t>
            </a:r>
          </a:p>
        </p:txBody>
      </p:sp>
      <p:sp>
        <p:nvSpPr>
          <p:cNvPr id="3" name="Content Placeholder 2">
            <a:extLst>
              <a:ext uri="{FF2B5EF4-FFF2-40B4-BE49-F238E27FC236}">
                <a16:creationId xmlns:a16="http://schemas.microsoft.com/office/drawing/2014/main" id="{F44E2EE6-E52C-041D-8FD2-EFEC9E2B19A4}"/>
              </a:ext>
            </a:extLst>
          </p:cNvPr>
          <p:cNvSpPr>
            <a:spLocks noGrp="1"/>
          </p:cNvSpPr>
          <p:nvPr>
            <p:ph idx="1"/>
          </p:nvPr>
        </p:nvSpPr>
        <p:spPr>
          <a:xfrm>
            <a:off x="158620" y="886409"/>
            <a:ext cx="11784563" cy="5719664"/>
          </a:xfrm>
        </p:spPr>
        <p:txBody>
          <a:bodyPr>
            <a:normAutofit fontScale="92500"/>
          </a:bodyPr>
          <a:lstStyle/>
          <a:p>
            <a:pPr marL="0" indent="0">
              <a:buNone/>
            </a:pPr>
            <a:r>
              <a:rPr lang="en-IN" b="1" dirty="0">
                <a:latin typeface="Times New Roman" panose="02020603050405020304" pitchFamily="18" charset="0"/>
                <a:cs typeface="Times New Roman" panose="02020603050405020304" pitchFamily="18" charset="0"/>
              </a:rPr>
              <a:t>1.ESPWROOM 32 </a:t>
            </a:r>
          </a:p>
          <a:p>
            <a:pPr marL="0" indent="0" algn="just">
              <a:lnSpc>
                <a:spcPct val="100000"/>
              </a:lnSpc>
              <a:buNone/>
            </a:pPr>
            <a:r>
              <a:rPr lang="en-IN" sz="2400" b="1" dirty="0">
                <a:latin typeface="Times New Roman" panose="02020603050405020304" pitchFamily="18" charset="0"/>
                <a:cs typeface="Times New Roman" panose="02020603050405020304" pitchFamily="18" charset="0"/>
              </a:rPr>
              <a:t>Role-</a:t>
            </a:r>
            <a:r>
              <a:rPr lang="en-US" sz="2400" dirty="0">
                <a:latin typeface="Times New Roman" panose="02020603050405020304" pitchFamily="18" charset="0"/>
                <a:cs typeface="Times New Roman" panose="02020603050405020304" pitchFamily="18" charset="0"/>
              </a:rPr>
              <a:t>Central microcontroller that controls, processes, and manages communication between all modules.</a:t>
            </a:r>
          </a:p>
          <a:p>
            <a:pPr marL="0" indent="0" algn="just">
              <a:lnSpc>
                <a:spcPct val="100000"/>
              </a:lnSpc>
              <a:buNone/>
            </a:pPr>
            <a:r>
              <a:rPr lang="en-US" sz="2400" b="1" dirty="0">
                <a:latin typeface="Times New Roman" panose="02020603050405020304" pitchFamily="18" charset="0"/>
                <a:cs typeface="Times New Roman" panose="02020603050405020304" pitchFamily="18" charset="0"/>
              </a:rPr>
              <a:t>Explanation-</a:t>
            </a:r>
            <a:r>
              <a:rPr lang="en-US" sz="2400" dirty="0">
                <a:latin typeface="Times New Roman" panose="02020603050405020304" pitchFamily="18" charset="0"/>
                <a:cs typeface="Times New Roman" panose="02020603050405020304" pitchFamily="18" charset="0"/>
              </a:rPr>
              <a:t>The ESP WROOM 32 is a powerful Wi-Fi and Bluetooth-enabled microcontroller used to process RFID data, control outputs like solenoid locks, and communicate with cloud services. It receives input from the RFID, GPS, and sensors, processes it, and triggers appropriate outputs including locking/unlocking doors, displaying messages, and sending cloud updates</a:t>
            </a:r>
            <a:r>
              <a:rPr lang="en-US" dirty="0">
                <a:latin typeface="Times New Roman" panose="02020603050405020304" pitchFamily="18" charset="0"/>
                <a:cs typeface="Times New Roman" panose="02020603050405020304" pitchFamily="18" charset="0"/>
              </a:rPr>
              <a:t>.</a:t>
            </a:r>
          </a:p>
          <a:p>
            <a:pPr marL="0" indent="0" algn="just">
              <a:lnSpc>
                <a:spcPct val="100000"/>
              </a:lnSpc>
              <a:buNone/>
            </a:pPr>
            <a:r>
              <a:rPr lang="en-US" sz="2400" b="1" dirty="0">
                <a:latin typeface="Times New Roman" panose="02020603050405020304" pitchFamily="18" charset="0"/>
                <a:cs typeface="Times New Roman" panose="02020603050405020304" pitchFamily="18" charset="0"/>
              </a:rPr>
              <a:t>Specifications-</a:t>
            </a:r>
          </a:p>
          <a:p>
            <a:pPr algn="just">
              <a:lnSpc>
                <a:spcPct val="100000"/>
              </a:lnSpc>
            </a:pPr>
            <a:r>
              <a:rPr lang="en-IN" sz="2400" dirty="0">
                <a:latin typeface="Times New Roman" panose="02020603050405020304" pitchFamily="18" charset="0"/>
                <a:cs typeface="Times New Roman" panose="02020603050405020304" pitchFamily="18" charset="0"/>
              </a:rPr>
              <a:t>Dual-core Xtensa 32-bit LX6 microprocessor   </a:t>
            </a:r>
          </a:p>
          <a:p>
            <a:pPr algn="just">
              <a:lnSpc>
                <a:spcPct val="100000"/>
              </a:lnSpc>
            </a:pPr>
            <a:r>
              <a:rPr lang="en-US" sz="2400" dirty="0">
                <a:latin typeface="Times New Roman" panose="02020603050405020304" pitchFamily="18" charset="0"/>
                <a:cs typeface="Times New Roman" panose="02020603050405020304" pitchFamily="18" charset="0"/>
              </a:rPr>
              <a:t>Clock speed: up to 240 MHz   </a:t>
            </a:r>
          </a:p>
          <a:p>
            <a:pPr algn="just">
              <a:lnSpc>
                <a:spcPct val="100000"/>
              </a:lnSpc>
            </a:pPr>
            <a:r>
              <a:rPr lang="en-IN" sz="2400" dirty="0">
                <a:latin typeface="Times New Roman" panose="02020603050405020304" pitchFamily="18" charset="0"/>
                <a:cs typeface="Times New Roman" panose="02020603050405020304" pitchFamily="18" charset="0"/>
              </a:rPr>
              <a:t>Flash Memory: 4 MB</a:t>
            </a:r>
          </a:p>
          <a:p>
            <a:pPr algn="just">
              <a:lnSpc>
                <a:spcPct val="100000"/>
              </a:lnSpc>
            </a:pPr>
            <a:r>
              <a:rPr lang="en-IN" sz="2400" dirty="0">
                <a:latin typeface="Times New Roman" panose="02020603050405020304" pitchFamily="18" charset="0"/>
                <a:cs typeface="Times New Roman" panose="02020603050405020304" pitchFamily="18" charset="0"/>
              </a:rPr>
              <a:t>GPIO Pins: 34  </a:t>
            </a:r>
          </a:p>
          <a:p>
            <a:pPr algn="just">
              <a:lnSpc>
                <a:spcPct val="100000"/>
              </a:lnSpc>
            </a:pPr>
            <a:r>
              <a:rPr lang="en-IN" sz="2400" dirty="0">
                <a:latin typeface="Times New Roman" panose="02020603050405020304" pitchFamily="18" charset="0"/>
                <a:cs typeface="Times New Roman" panose="02020603050405020304" pitchFamily="18" charset="0"/>
              </a:rPr>
              <a:t>Wi-Fi &amp; Bluetooth enabled  &amp; Operating Voltage: 3.3V</a:t>
            </a:r>
          </a:p>
          <a:p>
            <a:pPr marL="0" indent="0" algn="just">
              <a:lnSpc>
                <a:spcPct val="100000"/>
              </a:lnSpc>
              <a:buNone/>
            </a:pPr>
            <a:endParaRPr lang="en-US" sz="2400" b="1" dirty="0">
              <a:latin typeface="Times New Roman" panose="02020603050405020304" pitchFamily="18" charset="0"/>
              <a:cs typeface="Times New Roman" panose="02020603050405020304" pitchFamily="18" charset="0"/>
            </a:endParaRPr>
          </a:p>
          <a:p>
            <a:pPr marL="0" indent="0" algn="just">
              <a:lnSpc>
                <a:spcPct val="100000"/>
              </a:lnSpc>
              <a:buNone/>
            </a:pPr>
            <a:endParaRPr lang="en-IN" b="1" dirty="0">
              <a:latin typeface="Times New Roman" panose="02020603050405020304" pitchFamily="18" charset="0"/>
              <a:cs typeface="Times New Roman" panose="02020603050405020304" pitchFamily="18" charset="0"/>
            </a:endParaRPr>
          </a:p>
        </p:txBody>
      </p:sp>
      <p:pic>
        <p:nvPicPr>
          <p:cNvPr id="4" name="Image 598">
            <a:extLst>
              <a:ext uri="{FF2B5EF4-FFF2-40B4-BE49-F238E27FC236}">
                <a16:creationId xmlns:a16="http://schemas.microsoft.com/office/drawing/2014/main" id="{7534074B-8690-9F38-AA69-8D313E9B4866}"/>
              </a:ext>
            </a:extLst>
          </p:cNvPr>
          <p:cNvPicPr>
            <a:picLocks/>
          </p:cNvPicPr>
          <p:nvPr/>
        </p:nvPicPr>
        <p:blipFill>
          <a:blip r:embed="rId2" cstate="print"/>
          <a:stretch>
            <a:fillRect/>
          </a:stretch>
        </p:blipFill>
        <p:spPr>
          <a:xfrm>
            <a:off x="7634749" y="3925047"/>
            <a:ext cx="3962400" cy="2063750"/>
          </a:xfrm>
          <a:prstGeom prst="rect">
            <a:avLst/>
          </a:prstGeom>
        </p:spPr>
      </p:pic>
    </p:spTree>
    <p:extLst>
      <p:ext uri="{BB962C8B-B14F-4D97-AF65-F5344CB8AC3E}">
        <p14:creationId xmlns:p14="http://schemas.microsoft.com/office/powerpoint/2010/main" val="13821722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CB3E2AE-1C2D-ABA3-69E9-6E4B82ABAE89}"/>
              </a:ext>
            </a:extLst>
          </p:cNvPr>
          <p:cNvSpPr>
            <a:spLocks noGrp="1"/>
          </p:cNvSpPr>
          <p:nvPr>
            <p:ph idx="1"/>
          </p:nvPr>
        </p:nvSpPr>
        <p:spPr>
          <a:xfrm>
            <a:off x="438539" y="317240"/>
            <a:ext cx="11364685" cy="6176865"/>
          </a:xfrm>
        </p:spPr>
        <p:txBody>
          <a:bodyPr/>
          <a:lstStyle/>
          <a:p>
            <a:pPr marL="0" indent="0">
              <a:buNone/>
            </a:pPr>
            <a:r>
              <a:rPr lang="en-IN" sz="2600" b="1" dirty="0">
                <a:latin typeface="Times New Roman" panose="02020603050405020304" pitchFamily="18" charset="0"/>
                <a:cs typeface="Times New Roman" panose="02020603050405020304" pitchFamily="18" charset="0"/>
              </a:rPr>
              <a:t>2.GPS Neo 6M</a:t>
            </a:r>
          </a:p>
          <a:p>
            <a:pPr marL="0" indent="0">
              <a:buNone/>
            </a:pPr>
            <a:r>
              <a:rPr lang="en-IN" sz="2400" b="1" dirty="0">
                <a:latin typeface="Times New Roman" panose="02020603050405020304" pitchFamily="18" charset="0"/>
                <a:cs typeface="Times New Roman" panose="02020603050405020304" pitchFamily="18" charset="0"/>
              </a:rPr>
              <a:t>Role</a:t>
            </a:r>
            <a:r>
              <a:rPr lang="en-IN" sz="2400" dirty="0">
                <a:latin typeface="Times New Roman" panose="02020603050405020304" pitchFamily="18" charset="0"/>
                <a:cs typeface="Times New Roman" panose="02020603050405020304" pitchFamily="18" charset="0"/>
              </a:rPr>
              <a:t>-</a:t>
            </a:r>
            <a:r>
              <a:rPr lang="en-US" sz="2400" dirty="0">
                <a:latin typeface="Times New Roman" panose="02020603050405020304" pitchFamily="18" charset="0"/>
                <a:cs typeface="Times New Roman" panose="02020603050405020304" pitchFamily="18" charset="0"/>
              </a:rPr>
              <a:t>Provides real-time geographic location of the bus.</a:t>
            </a:r>
            <a:endParaRPr lang="en-IN" sz="2400" dirty="0">
              <a:latin typeface="Times New Roman" panose="02020603050405020304" pitchFamily="18" charset="0"/>
              <a:cs typeface="Times New Roman" panose="02020603050405020304" pitchFamily="18" charset="0"/>
            </a:endParaRPr>
          </a:p>
          <a:p>
            <a:pPr marL="0" indent="0">
              <a:buNone/>
            </a:pPr>
            <a:r>
              <a:rPr lang="en-IN" sz="2400" b="1" dirty="0">
                <a:latin typeface="Times New Roman" panose="02020603050405020304" pitchFamily="18" charset="0"/>
                <a:cs typeface="Times New Roman" panose="02020603050405020304" pitchFamily="18" charset="0"/>
              </a:rPr>
              <a:t>Explanation</a:t>
            </a:r>
            <a:r>
              <a:rPr lang="en-IN" sz="2400" dirty="0">
                <a:latin typeface="Times New Roman" panose="02020603050405020304" pitchFamily="18" charset="0"/>
                <a:cs typeface="Times New Roman" panose="02020603050405020304" pitchFamily="18" charset="0"/>
              </a:rPr>
              <a:t>-</a:t>
            </a:r>
            <a:r>
              <a:rPr lang="en-US" sz="2400" dirty="0">
                <a:latin typeface="Times New Roman" panose="02020603050405020304" pitchFamily="18" charset="0"/>
                <a:cs typeface="Times New Roman" panose="02020603050405020304" pitchFamily="18" charset="0"/>
              </a:rPr>
              <a:t>The Neo-6M GPS module receives satellite signals to determine accurate latitude and longitude coordinates. It sends this data to the ESP WROOM 32 for live tracking and cloud uploading.</a:t>
            </a:r>
            <a:endParaRPr lang="en-IN" sz="2400" dirty="0">
              <a:latin typeface="Times New Roman" panose="02020603050405020304" pitchFamily="18" charset="0"/>
              <a:cs typeface="Times New Roman" panose="02020603050405020304" pitchFamily="18" charset="0"/>
            </a:endParaRPr>
          </a:p>
          <a:p>
            <a:pPr marL="0" indent="0">
              <a:buNone/>
            </a:pPr>
            <a:r>
              <a:rPr lang="en-IN" sz="2400" b="1" dirty="0">
                <a:latin typeface="Times New Roman" panose="02020603050405020304" pitchFamily="18" charset="0"/>
                <a:cs typeface="Times New Roman" panose="02020603050405020304" pitchFamily="18" charset="0"/>
              </a:rPr>
              <a:t>Specifications</a:t>
            </a:r>
          </a:p>
          <a:p>
            <a:r>
              <a:rPr lang="en-IN" sz="2400" dirty="0">
                <a:latin typeface="Times New Roman" panose="02020603050405020304" pitchFamily="18" charset="0"/>
                <a:cs typeface="Times New Roman" panose="02020603050405020304" pitchFamily="18" charset="0"/>
              </a:rPr>
              <a:t>Operating Voltage: 3V to 5V</a:t>
            </a:r>
          </a:p>
          <a:p>
            <a:r>
              <a:rPr lang="en-IN" sz="2400" dirty="0">
                <a:latin typeface="Times New Roman" panose="02020603050405020304" pitchFamily="18" charset="0"/>
                <a:cs typeface="Times New Roman" panose="02020603050405020304" pitchFamily="18" charset="0"/>
              </a:rPr>
              <a:t>GPS Baud Rate: 9600</a:t>
            </a:r>
          </a:p>
          <a:p>
            <a:r>
              <a:rPr lang="en-IN" sz="2400" dirty="0">
                <a:latin typeface="Times New Roman" panose="02020603050405020304" pitchFamily="18" charset="0"/>
                <a:cs typeface="Times New Roman" panose="02020603050405020304" pitchFamily="18" charset="0"/>
              </a:rPr>
              <a:t>Position Accuracy: 2.5 meters</a:t>
            </a:r>
          </a:p>
          <a:p>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Cold Start Time: 38 s</a:t>
            </a:r>
          </a:p>
          <a:p>
            <a:endParaRPr lang="en-IN" dirty="0"/>
          </a:p>
          <a:p>
            <a:pPr marL="0" indent="0">
              <a:buNone/>
            </a:pPr>
            <a:endParaRPr lang="en-IN" dirty="0"/>
          </a:p>
        </p:txBody>
      </p:sp>
      <p:pic>
        <p:nvPicPr>
          <p:cNvPr id="4" name="Picture 3" descr="ESP32 with NEO-6M GPS Module (Arduino) | Random Nerd Tutorials">
            <a:extLst>
              <a:ext uri="{FF2B5EF4-FFF2-40B4-BE49-F238E27FC236}">
                <a16:creationId xmlns:a16="http://schemas.microsoft.com/office/drawing/2014/main" id="{E2438EBF-09B1-6C42-E0FC-4E4C17DB57CC}"/>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949152" y="2370841"/>
            <a:ext cx="2882245" cy="2752902"/>
          </a:xfrm>
          <a:prstGeom prst="rect">
            <a:avLst/>
          </a:prstGeom>
          <a:noFill/>
          <a:ln>
            <a:noFill/>
          </a:ln>
        </p:spPr>
      </p:pic>
    </p:spTree>
    <p:extLst>
      <p:ext uri="{BB962C8B-B14F-4D97-AF65-F5344CB8AC3E}">
        <p14:creationId xmlns:p14="http://schemas.microsoft.com/office/powerpoint/2010/main" val="12376709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722D60F-5D65-E944-0A8A-A4DC2E389B1C}"/>
              </a:ext>
            </a:extLst>
          </p:cNvPr>
          <p:cNvSpPr>
            <a:spLocks noGrp="1"/>
          </p:cNvSpPr>
          <p:nvPr>
            <p:ph idx="1"/>
          </p:nvPr>
        </p:nvSpPr>
        <p:spPr>
          <a:xfrm>
            <a:off x="279919" y="354562"/>
            <a:ext cx="11495314" cy="6074229"/>
          </a:xfrm>
        </p:spPr>
        <p:txBody>
          <a:bodyPr/>
          <a:lstStyle/>
          <a:p>
            <a:pPr marL="0" indent="0">
              <a:buNone/>
            </a:pPr>
            <a:r>
              <a:rPr lang="en-IN" sz="2600" b="1" dirty="0">
                <a:latin typeface="Times New Roman" panose="02020603050405020304" pitchFamily="18" charset="0"/>
                <a:cs typeface="Times New Roman" panose="02020603050405020304" pitchFamily="18" charset="0"/>
              </a:rPr>
              <a:t>3.Relay Module</a:t>
            </a:r>
          </a:p>
          <a:p>
            <a:pPr marL="0" indent="0">
              <a:buNone/>
            </a:pPr>
            <a:r>
              <a:rPr lang="en-IN" sz="2400" b="1" dirty="0">
                <a:latin typeface="Times New Roman" panose="02020603050405020304" pitchFamily="18" charset="0"/>
                <a:cs typeface="Times New Roman" panose="02020603050405020304" pitchFamily="18" charset="0"/>
              </a:rPr>
              <a:t>Role</a:t>
            </a:r>
            <a:r>
              <a:rPr lang="en-IN" sz="2400" dirty="0">
                <a:latin typeface="Times New Roman" panose="02020603050405020304" pitchFamily="18" charset="0"/>
                <a:cs typeface="Times New Roman" panose="02020603050405020304" pitchFamily="18" charset="0"/>
              </a:rPr>
              <a:t>-</a:t>
            </a:r>
            <a:r>
              <a:rPr lang="en-US" sz="2400" dirty="0">
                <a:latin typeface="Times New Roman" panose="02020603050405020304" pitchFamily="18" charset="0"/>
                <a:cs typeface="Times New Roman" panose="02020603050405020304" pitchFamily="18" charset="0"/>
              </a:rPr>
              <a:t>Acts as an electronic switch to control the solenoid lock.</a:t>
            </a:r>
          </a:p>
          <a:p>
            <a:pPr marL="0" indent="0">
              <a:buNone/>
            </a:pPr>
            <a:r>
              <a:rPr lang="en-US" sz="2400" b="1" dirty="0">
                <a:latin typeface="Times New Roman" panose="02020603050405020304" pitchFamily="18" charset="0"/>
                <a:cs typeface="Times New Roman" panose="02020603050405020304" pitchFamily="18" charset="0"/>
              </a:rPr>
              <a:t>Explanation</a:t>
            </a:r>
            <a:r>
              <a:rPr lang="en-US" sz="2400" dirty="0">
                <a:latin typeface="Times New Roman" panose="02020603050405020304" pitchFamily="18" charset="0"/>
                <a:cs typeface="Times New Roman" panose="02020603050405020304" pitchFamily="18" charset="0"/>
              </a:rPr>
              <a:t>-The relay module receives control signals from the ESP WROOM 32 and turns ON/OFF high-voltage components like the solenoid lock or buzzer system.</a:t>
            </a:r>
          </a:p>
          <a:p>
            <a:pPr marL="0" indent="0">
              <a:buNone/>
            </a:pPr>
            <a:r>
              <a:rPr lang="en-US" sz="2400" b="1" dirty="0">
                <a:latin typeface="Times New Roman" panose="02020603050405020304" pitchFamily="18" charset="0"/>
                <a:cs typeface="Times New Roman" panose="02020603050405020304" pitchFamily="18" charset="0"/>
              </a:rPr>
              <a:t>Specifications</a:t>
            </a:r>
          </a:p>
          <a:p>
            <a:r>
              <a:rPr lang="en-IN" sz="2400" dirty="0">
                <a:latin typeface="Times New Roman" panose="02020603050405020304" pitchFamily="18" charset="0"/>
                <a:cs typeface="Times New Roman" panose="02020603050405020304" pitchFamily="18" charset="0"/>
              </a:rPr>
              <a:t>Operating Voltage: 5V</a:t>
            </a:r>
            <a:endParaRPr lang="en-US"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Trigger Current: 5mA</a:t>
            </a:r>
            <a:endParaRPr lang="en-US"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Number of Channels: 1</a:t>
            </a:r>
          </a:p>
          <a:p>
            <a:pPr marL="0" indent="0">
              <a:buNone/>
            </a:pPr>
            <a:endParaRPr lang="en-IN" dirty="0"/>
          </a:p>
        </p:txBody>
      </p:sp>
      <p:pic>
        <p:nvPicPr>
          <p:cNvPr id="2" name="Picture 1" descr="How to Control a Relay Module With an ESP32 | Everything ESP | Maker Pro">
            <a:extLst>
              <a:ext uri="{FF2B5EF4-FFF2-40B4-BE49-F238E27FC236}">
                <a16:creationId xmlns:a16="http://schemas.microsoft.com/office/drawing/2014/main" id="{4AF6AA80-722F-DA39-C9DE-2D35A9761715}"/>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130601" y="2466638"/>
            <a:ext cx="3304871" cy="3103364"/>
          </a:xfrm>
          <a:prstGeom prst="rect">
            <a:avLst/>
          </a:prstGeom>
          <a:noFill/>
          <a:ln>
            <a:noFill/>
          </a:ln>
        </p:spPr>
      </p:pic>
    </p:spTree>
    <p:extLst>
      <p:ext uri="{BB962C8B-B14F-4D97-AF65-F5344CB8AC3E}">
        <p14:creationId xmlns:p14="http://schemas.microsoft.com/office/powerpoint/2010/main" val="20726552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3DCA34B-AE92-3917-CEB5-9DCFF8EB76E5}"/>
              </a:ext>
            </a:extLst>
          </p:cNvPr>
          <p:cNvSpPr>
            <a:spLocks noGrp="1"/>
          </p:cNvSpPr>
          <p:nvPr>
            <p:ph idx="1"/>
          </p:nvPr>
        </p:nvSpPr>
        <p:spPr>
          <a:xfrm>
            <a:off x="382555" y="335902"/>
            <a:ext cx="11140751" cy="6083559"/>
          </a:xfrm>
        </p:spPr>
        <p:txBody>
          <a:bodyPr/>
          <a:lstStyle/>
          <a:p>
            <a:pPr marL="0" indent="0">
              <a:buNone/>
            </a:pPr>
            <a:r>
              <a:rPr lang="en-IN" sz="2600" b="1" dirty="0">
                <a:latin typeface="Times New Roman" panose="02020603050405020304" pitchFamily="18" charset="0"/>
                <a:cs typeface="Times New Roman" panose="02020603050405020304" pitchFamily="18" charset="0"/>
              </a:rPr>
              <a:t>4.RC522 RFID Module</a:t>
            </a:r>
          </a:p>
          <a:p>
            <a:pPr marL="0" indent="0">
              <a:buNone/>
            </a:pPr>
            <a:r>
              <a:rPr lang="en-IN" sz="2400" b="1" dirty="0">
                <a:latin typeface="Times New Roman" panose="02020603050405020304" pitchFamily="18" charset="0"/>
                <a:cs typeface="Times New Roman" panose="02020603050405020304" pitchFamily="18" charset="0"/>
              </a:rPr>
              <a:t>Role</a:t>
            </a:r>
            <a:r>
              <a:rPr lang="en-IN" sz="2400" dirty="0">
                <a:latin typeface="Times New Roman" panose="02020603050405020304" pitchFamily="18" charset="0"/>
                <a:cs typeface="Times New Roman" panose="02020603050405020304" pitchFamily="18" charset="0"/>
              </a:rPr>
              <a:t>-</a:t>
            </a:r>
            <a:r>
              <a:rPr lang="en-US" sz="2400" dirty="0">
                <a:latin typeface="Times New Roman" panose="02020603050405020304" pitchFamily="18" charset="0"/>
                <a:cs typeface="Times New Roman" panose="02020603050405020304" pitchFamily="18" charset="0"/>
              </a:rPr>
              <a:t>Reads student RFID cards for authentication.</a:t>
            </a:r>
            <a:endParaRPr lang="en-IN" sz="2400" dirty="0">
              <a:latin typeface="Times New Roman" panose="02020603050405020304" pitchFamily="18" charset="0"/>
              <a:cs typeface="Times New Roman" panose="02020603050405020304" pitchFamily="18" charset="0"/>
            </a:endParaRPr>
          </a:p>
          <a:p>
            <a:pPr marL="0" indent="0">
              <a:buNone/>
            </a:pPr>
            <a:r>
              <a:rPr lang="en-IN" sz="2400" b="1" dirty="0">
                <a:latin typeface="Times New Roman" panose="02020603050405020304" pitchFamily="18" charset="0"/>
                <a:cs typeface="Times New Roman" panose="02020603050405020304" pitchFamily="18" charset="0"/>
              </a:rPr>
              <a:t>Explanation</a:t>
            </a:r>
            <a:r>
              <a:rPr lang="en-IN" sz="2400" dirty="0">
                <a:latin typeface="Times New Roman" panose="02020603050405020304" pitchFamily="18" charset="0"/>
                <a:cs typeface="Times New Roman" panose="02020603050405020304" pitchFamily="18" charset="0"/>
              </a:rPr>
              <a:t>-</a:t>
            </a:r>
            <a:r>
              <a:rPr lang="en-US" sz="2400" dirty="0">
                <a:latin typeface="Times New Roman" panose="02020603050405020304" pitchFamily="18" charset="0"/>
                <a:cs typeface="Times New Roman" panose="02020603050405020304" pitchFamily="18" charset="0"/>
              </a:rPr>
              <a:t>The RC522 module scans RFID tags/cards presented by students. It sends the unique ID to the ESP WROOM 32, which verifies it against valid </a:t>
            </a:r>
            <a:r>
              <a:rPr lang="en-US" sz="2400" dirty="0" err="1">
                <a:latin typeface="Times New Roman" panose="02020603050405020304" pitchFamily="18" charset="0"/>
                <a:cs typeface="Times New Roman" panose="02020603050405020304" pitchFamily="18" charset="0"/>
              </a:rPr>
              <a:t>rfid</a:t>
            </a:r>
            <a:r>
              <a:rPr lang="en-US" sz="2400" dirty="0">
                <a:latin typeface="Times New Roman" panose="02020603050405020304" pitchFamily="18" charset="0"/>
                <a:cs typeface="Times New Roman" panose="02020603050405020304" pitchFamily="18" charset="0"/>
              </a:rPr>
              <a:t> tags.</a:t>
            </a:r>
          </a:p>
          <a:p>
            <a:pPr marL="0" indent="0">
              <a:buNone/>
            </a:pPr>
            <a:r>
              <a:rPr lang="en-US" sz="2400" b="1" dirty="0">
                <a:latin typeface="Times New Roman" panose="02020603050405020304" pitchFamily="18" charset="0"/>
                <a:cs typeface="Times New Roman" panose="02020603050405020304" pitchFamily="18" charset="0"/>
              </a:rPr>
              <a:t>Specifications</a:t>
            </a:r>
          </a:p>
          <a:p>
            <a:pPr marL="0" indent="0">
              <a:buNone/>
            </a:pPr>
            <a:r>
              <a:rPr lang="en-IN" sz="2400" dirty="0">
                <a:latin typeface="Times New Roman" panose="02020603050405020304" pitchFamily="18" charset="0"/>
                <a:cs typeface="Times New Roman" panose="02020603050405020304" pitchFamily="18" charset="0"/>
              </a:rPr>
              <a:t>Operating Frequency: 13.56 MHz</a:t>
            </a:r>
            <a:endParaRPr lang="en-US" sz="2400" dirty="0">
              <a:latin typeface="Times New Roman" panose="02020603050405020304" pitchFamily="18" charset="0"/>
              <a:cs typeface="Times New Roman" panose="02020603050405020304" pitchFamily="18" charset="0"/>
            </a:endParaRPr>
          </a:p>
          <a:p>
            <a:pPr marL="0" indent="0">
              <a:buNone/>
            </a:pPr>
            <a:r>
              <a:rPr lang="en-IN" sz="2400" dirty="0">
                <a:latin typeface="Times New Roman" panose="02020603050405020304" pitchFamily="18" charset="0"/>
                <a:cs typeface="Times New Roman" panose="02020603050405020304" pitchFamily="18" charset="0"/>
              </a:rPr>
              <a:t>Communication Interface: SPI</a:t>
            </a:r>
            <a:endParaRPr lang="en-US" sz="2400" dirty="0">
              <a:latin typeface="Times New Roman" panose="02020603050405020304" pitchFamily="18" charset="0"/>
              <a:cs typeface="Times New Roman" panose="02020603050405020304" pitchFamily="18" charset="0"/>
            </a:endParaRPr>
          </a:p>
          <a:p>
            <a:pPr marL="0" indent="0">
              <a:buNone/>
            </a:pPr>
            <a:r>
              <a:rPr lang="en-IN" sz="2400" dirty="0">
                <a:latin typeface="Times New Roman" panose="02020603050405020304" pitchFamily="18" charset="0"/>
                <a:cs typeface="Times New Roman" panose="02020603050405020304" pitchFamily="18" charset="0"/>
              </a:rPr>
              <a:t>Operating Voltage: 3.3V</a:t>
            </a:r>
            <a:endParaRPr lang="en-US" sz="2400" dirty="0">
              <a:latin typeface="Times New Roman" panose="02020603050405020304" pitchFamily="18" charset="0"/>
              <a:cs typeface="Times New Roman" panose="02020603050405020304" pitchFamily="18" charset="0"/>
            </a:endParaRPr>
          </a:p>
          <a:p>
            <a:pPr marL="0" indent="0">
              <a:buNone/>
            </a:pPr>
            <a:r>
              <a:rPr lang="en-IN" sz="2400" dirty="0">
                <a:latin typeface="Times New Roman" panose="02020603050405020304" pitchFamily="18" charset="0"/>
                <a:cs typeface="Times New Roman" panose="02020603050405020304" pitchFamily="18" charset="0"/>
              </a:rPr>
              <a:t>Reading Distance: 2–5 cm</a:t>
            </a:r>
            <a:endParaRPr lang="en-US" sz="2400" dirty="0">
              <a:latin typeface="Times New Roman" panose="02020603050405020304" pitchFamily="18" charset="0"/>
              <a:cs typeface="Times New Roman" panose="02020603050405020304" pitchFamily="18" charset="0"/>
            </a:endParaRPr>
          </a:p>
          <a:p>
            <a:pPr marL="0" indent="0">
              <a:buNone/>
            </a:pPr>
            <a:endParaRPr lang="en-IN" dirty="0"/>
          </a:p>
        </p:txBody>
      </p:sp>
      <p:pic>
        <p:nvPicPr>
          <p:cNvPr id="2" name="Picture 1" descr="Esp32 Rfid Rc522 Interfacing With Esp32 | Esp32">
            <a:extLst>
              <a:ext uri="{FF2B5EF4-FFF2-40B4-BE49-F238E27FC236}">
                <a16:creationId xmlns:a16="http://schemas.microsoft.com/office/drawing/2014/main" id="{E4FEC1D8-8022-F810-9E21-551B90DE8AB3}"/>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547701" y="2450671"/>
            <a:ext cx="3944332" cy="2552640"/>
          </a:xfrm>
          <a:prstGeom prst="rect">
            <a:avLst/>
          </a:prstGeom>
          <a:noFill/>
          <a:ln>
            <a:noFill/>
          </a:ln>
        </p:spPr>
      </p:pic>
    </p:spTree>
    <p:extLst>
      <p:ext uri="{BB962C8B-B14F-4D97-AF65-F5344CB8AC3E}">
        <p14:creationId xmlns:p14="http://schemas.microsoft.com/office/powerpoint/2010/main" val="40285061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5C94238-0202-067F-FF37-D20EA2EB41B4}"/>
              </a:ext>
            </a:extLst>
          </p:cNvPr>
          <p:cNvSpPr>
            <a:spLocks noGrp="1"/>
          </p:cNvSpPr>
          <p:nvPr>
            <p:ph idx="1"/>
          </p:nvPr>
        </p:nvSpPr>
        <p:spPr>
          <a:xfrm>
            <a:off x="377072" y="405353"/>
            <a:ext cx="11491274" cy="6099142"/>
          </a:xfrm>
        </p:spPr>
        <p:txBody>
          <a:bodyPr>
            <a:normAutofit/>
          </a:bodyPr>
          <a:lstStyle/>
          <a:p>
            <a:pPr marL="0" indent="0">
              <a:buNone/>
            </a:pPr>
            <a:r>
              <a:rPr lang="en-US" sz="2600" b="1" dirty="0">
                <a:latin typeface="Times New Roman" panose="02020603050405020304" pitchFamily="18" charset="0"/>
                <a:cs typeface="Times New Roman" panose="02020603050405020304" pitchFamily="18" charset="0"/>
              </a:rPr>
              <a:t>5.Solenoid Lock</a:t>
            </a:r>
          </a:p>
          <a:p>
            <a:pPr marL="0" indent="0">
              <a:buNone/>
            </a:pPr>
            <a:r>
              <a:rPr lang="en-IN" sz="2400" b="1" dirty="0">
                <a:latin typeface="Times New Roman" panose="02020603050405020304" pitchFamily="18" charset="0"/>
                <a:cs typeface="Times New Roman" panose="02020603050405020304" pitchFamily="18" charset="0"/>
              </a:rPr>
              <a:t>Role-</a:t>
            </a:r>
            <a:r>
              <a:rPr lang="en-US" sz="2400" dirty="0">
                <a:latin typeface="Times New Roman" panose="02020603050405020304" pitchFamily="18" charset="0"/>
                <a:cs typeface="Times New Roman" panose="02020603050405020304" pitchFamily="18" charset="0"/>
              </a:rPr>
              <a:t>The solenoid lock is used to </a:t>
            </a:r>
            <a:r>
              <a:rPr lang="en-US" sz="2400" b="1" dirty="0">
                <a:latin typeface="Times New Roman" panose="02020603050405020304" pitchFamily="18" charset="0"/>
                <a:cs typeface="Times New Roman" panose="02020603050405020304" pitchFamily="18" charset="0"/>
              </a:rPr>
              <a:t>automatically lock and unlock the bus door</a:t>
            </a:r>
            <a:r>
              <a:rPr lang="en-US" sz="2400" dirty="0">
                <a:latin typeface="Times New Roman" panose="02020603050405020304" pitchFamily="18" charset="0"/>
                <a:cs typeface="Times New Roman" panose="02020603050405020304" pitchFamily="18" charset="0"/>
              </a:rPr>
              <a:t> based on RFID authentication, ensuring only authorized students can enter.</a:t>
            </a:r>
          </a:p>
          <a:p>
            <a:pPr marL="0" indent="0">
              <a:buNone/>
            </a:pPr>
            <a:r>
              <a:rPr lang="en-US" sz="2400" b="1" dirty="0">
                <a:latin typeface="Times New Roman" panose="02020603050405020304" pitchFamily="18" charset="0"/>
                <a:cs typeface="Times New Roman" panose="02020603050405020304" pitchFamily="18" charset="0"/>
              </a:rPr>
              <a:t>Explanation-</a:t>
            </a:r>
            <a:r>
              <a:rPr lang="en-US" sz="2400" dirty="0">
                <a:latin typeface="Times New Roman" panose="02020603050405020304" pitchFamily="18" charset="0"/>
                <a:cs typeface="Times New Roman" panose="02020603050405020304" pitchFamily="18" charset="0"/>
              </a:rPr>
              <a:t>The ESP32 activates the solenoid lock through a relay when a valid RFID card is scanned, allowing the door to open. For invalid cards, the solenoid remains de-energized, keeping the door securely locked and preventing unauthorized entry.</a:t>
            </a:r>
          </a:p>
          <a:p>
            <a:pPr marL="0" indent="0">
              <a:buNone/>
            </a:pPr>
            <a:r>
              <a:rPr lang="en-US" sz="2400" b="1" dirty="0">
                <a:latin typeface="Times New Roman" panose="02020603050405020304" pitchFamily="18" charset="0"/>
                <a:cs typeface="Times New Roman" panose="02020603050405020304" pitchFamily="18" charset="0"/>
              </a:rPr>
              <a:t>Specifications</a:t>
            </a:r>
          </a:p>
          <a:p>
            <a:r>
              <a:rPr lang="en-IN" sz="2400" dirty="0">
                <a:latin typeface="Times New Roman" panose="02020603050405020304" pitchFamily="18" charset="0"/>
                <a:cs typeface="Times New Roman" panose="02020603050405020304" pitchFamily="18" charset="0"/>
              </a:rPr>
              <a:t>Operating Voltage: 12V DC</a:t>
            </a:r>
          </a:p>
          <a:p>
            <a:r>
              <a:rPr lang="en-IN" sz="2400" dirty="0">
                <a:latin typeface="Times New Roman" panose="02020603050405020304" pitchFamily="18" charset="0"/>
                <a:cs typeface="Times New Roman" panose="02020603050405020304" pitchFamily="18" charset="0"/>
              </a:rPr>
              <a:t>Type: Electromagnetic plunger lock</a:t>
            </a:r>
          </a:p>
          <a:p>
            <a:r>
              <a:rPr lang="en-US" sz="2400" dirty="0">
                <a:latin typeface="Times New Roman" panose="02020603050405020304" pitchFamily="18" charset="0"/>
                <a:cs typeface="Times New Roman" panose="02020603050405020304" pitchFamily="18" charset="0"/>
              </a:rPr>
              <a:t>Operation: Normally closed (opens when energized)</a:t>
            </a:r>
            <a:endParaRPr lang="en-IN" sz="2600" dirty="0">
              <a:latin typeface="Times New Roman" panose="02020603050405020304" pitchFamily="18" charset="0"/>
              <a:cs typeface="Times New Roman" panose="02020603050405020304" pitchFamily="18" charset="0"/>
            </a:endParaRPr>
          </a:p>
        </p:txBody>
      </p:sp>
      <p:pic>
        <p:nvPicPr>
          <p:cNvPr id="5" name="Picture 4" descr="ESP32 MicroPython Solenoid Lock | ESP32 MicroPython Tutorial">
            <a:extLst>
              <a:ext uri="{FF2B5EF4-FFF2-40B4-BE49-F238E27FC236}">
                <a16:creationId xmlns:a16="http://schemas.microsoft.com/office/drawing/2014/main" id="{619ADF06-FE3E-0C8C-566E-077E5DE219E5}"/>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r="27243"/>
          <a:stretch>
            <a:fillRect/>
          </a:stretch>
        </p:blipFill>
        <p:spPr bwMode="auto">
          <a:xfrm>
            <a:off x="7540129" y="3101948"/>
            <a:ext cx="4328217" cy="2101647"/>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42091051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7AE10D-823C-2239-2F7F-AC396112EBF8}"/>
              </a:ext>
            </a:extLst>
          </p:cNvPr>
          <p:cNvSpPr>
            <a:spLocks noGrp="1"/>
          </p:cNvSpPr>
          <p:nvPr>
            <p:ph type="title"/>
          </p:nvPr>
        </p:nvSpPr>
        <p:spPr>
          <a:xfrm>
            <a:off x="903514" y="279918"/>
            <a:ext cx="10515600" cy="783772"/>
          </a:xfrm>
        </p:spPr>
        <p:txBody>
          <a:bodyPr>
            <a:noAutofit/>
          </a:bodyPr>
          <a:lstStyle/>
          <a:p>
            <a:pPr algn="ctr"/>
            <a:r>
              <a:rPr lang="en-GB" sz="3200" b="1" dirty="0">
                <a:solidFill>
                  <a:schemeClr val="accent5">
                    <a:lumMod val="75000"/>
                  </a:schemeClr>
                </a:solidFill>
                <a:latin typeface="Times New Roman" panose="02020603050405020304" pitchFamily="18" charset="0"/>
                <a:cs typeface="Times New Roman" panose="02020603050405020304" pitchFamily="18" charset="0"/>
              </a:rPr>
              <a:t>SOFTWARE REQUIREMENTS</a:t>
            </a:r>
            <a:br>
              <a:rPr lang="en-IN" sz="3200" b="1" dirty="0">
                <a:solidFill>
                  <a:schemeClr val="accent5">
                    <a:lumMod val="75000"/>
                  </a:schemeClr>
                </a:solidFill>
                <a:latin typeface="Times New Roman" panose="02020603050405020304" pitchFamily="18" charset="0"/>
                <a:cs typeface="Times New Roman" panose="02020603050405020304" pitchFamily="18" charset="0"/>
              </a:rPr>
            </a:br>
            <a:endParaRPr lang="en-IN" sz="3200" dirty="0"/>
          </a:p>
        </p:txBody>
      </p:sp>
      <p:sp>
        <p:nvSpPr>
          <p:cNvPr id="3" name="Content Placeholder 2">
            <a:extLst>
              <a:ext uri="{FF2B5EF4-FFF2-40B4-BE49-F238E27FC236}">
                <a16:creationId xmlns:a16="http://schemas.microsoft.com/office/drawing/2014/main" id="{5767D206-83C6-AF77-7EA7-DF1AAB8389C5}"/>
              </a:ext>
            </a:extLst>
          </p:cNvPr>
          <p:cNvSpPr>
            <a:spLocks noGrp="1"/>
          </p:cNvSpPr>
          <p:nvPr>
            <p:ph idx="1"/>
          </p:nvPr>
        </p:nvSpPr>
        <p:spPr>
          <a:xfrm>
            <a:off x="559837" y="871979"/>
            <a:ext cx="11094098" cy="5986021"/>
          </a:xfrm>
        </p:spPr>
        <p:txBody>
          <a:bodyPr/>
          <a:lstStyle/>
          <a:p>
            <a:pPr marL="0" indent="0" algn="just">
              <a:buNone/>
            </a:pPr>
            <a:r>
              <a:rPr lang="en-IN" sz="2600" b="1" dirty="0">
                <a:latin typeface="Times New Roman" panose="02020603050405020304" pitchFamily="18" charset="0"/>
                <a:cs typeface="Times New Roman" panose="02020603050405020304" pitchFamily="18" charset="0"/>
              </a:rPr>
              <a:t>1.Arduino IDE</a:t>
            </a:r>
            <a:r>
              <a:rPr lang="en-IN" sz="2600" dirty="0">
                <a:latin typeface="Times New Roman" panose="02020603050405020304" pitchFamily="18" charset="0"/>
                <a:cs typeface="Times New Roman" panose="02020603050405020304" pitchFamily="18" charset="0"/>
              </a:rPr>
              <a:t>:</a:t>
            </a:r>
          </a:p>
          <a:p>
            <a:pPr marL="342900" indent="-342900"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The Arduino Integrated Development Environment (IDE) is used to write, debug, and upload the code to the Arduino Uno.</a:t>
            </a:r>
          </a:p>
          <a:p>
            <a:pPr marL="342900" indent="-342900"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The IDE supports C and C++ languages, which are required to develop the control logic for the system.</a:t>
            </a:r>
          </a:p>
          <a:p>
            <a:pPr marL="0" indent="0" algn="just">
              <a:buNone/>
            </a:pPr>
            <a:r>
              <a:rPr lang="en-IN" sz="2600" b="1" dirty="0">
                <a:latin typeface="Times New Roman" panose="02020603050405020304" pitchFamily="18" charset="0"/>
                <a:cs typeface="Times New Roman" panose="02020603050405020304" pitchFamily="18" charset="0"/>
              </a:rPr>
              <a:t>2.Arduino IoT Cloud Platform:</a:t>
            </a:r>
          </a:p>
          <a:p>
            <a:pPr marL="0" indent="0" algn="just">
              <a:buNone/>
            </a:pPr>
            <a:r>
              <a:rPr lang="en-IN" sz="2400" dirty="0">
                <a:latin typeface="Times New Roman" panose="02020603050405020304" pitchFamily="18" charset="0"/>
                <a:cs typeface="Times New Roman" panose="02020603050405020304" pitchFamily="18" charset="0"/>
              </a:rPr>
              <a:t>The Arduino IoT Cloud is an online platform that enables seamless communication between IoT devices and users through the internet. It is designed to allow remote monitoring, data visualization, and device control.</a:t>
            </a:r>
          </a:p>
          <a:p>
            <a:pPr marL="0" indent="0" algn="just">
              <a:buNone/>
            </a:pPr>
            <a:endParaRPr lang="en-IN" b="1" dirty="0">
              <a:latin typeface="Times New Roman" panose="02020603050405020304" pitchFamily="18" charset="0"/>
              <a:cs typeface="Times New Roman" panose="02020603050405020304" pitchFamily="18" charset="0"/>
            </a:endParaRPr>
          </a:p>
          <a:p>
            <a:pPr marL="0" indent="0" algn="just">
              <a:buNone/>
            </a:pPr>
            <a:endParaRPr lang="en-IN" dirty="0"/>
          </a:p>
        </p:txBody>
      </p:sp>
      <p:pic>
        <p:nvPicPr>
          <p:cNvPr id="2050" name="Picture 2" descr="Overview of the Arduino IDE 1 | Arduino Documentation">
            <a:extLst>
              <a:ext uri="{FF2B5EF4-FFF2-40B4-BE49-F238E27FC236}">
                <a16:creationId xmlns:a16="http://schemas.microsoft.com/office/drawing/2014/main" id="{2A4C0EB9-82E4-6347-AB08-FC47B48D3DE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5308" t="11176" r="23635" b="29145"/>
          <a:stretch>
            <a:fillRect/>
          </a:stretch>
        </p:blipFill>
        <p:spPr bwMode="auto">
          <a:xfrm>
            <a:off x="999241" y="4477731"/>
            <a:ext cx="3641742" cy="2196445"/>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17956EA1-A668-2908-E05C-B9160B8E25FE}"/>
              </a:ext>
            </a:extLst>
          </p:cNvPr>
          <p:cNvPicPr>
            <a:picLocks noChangeAspect="1"/>
          </p:cNvPicPr>
          <p:nvPr/>
        </p:nvPicPr>
        <p:blipFill>
          <a:blip r:embed="rId3"/>
          <a:srcRect t="4082"/>
          <a:stretch>
            <a:fillRect/>
          </a:stretch>
        </p:blipFill>
        <p:spPr>
          <a:xfrm>
            <a:off x="8069493" y="4175160"/>
            <a:ext cx="1537924" cy="2565005"/>
          </a:xfrm>
          <a:prstGeom prst="rect">
            <a:avLst/>
          </a:prstGeom>
        </p:spPr>
      </p:pic>
    </p:spTree>
    <p:extLst>
      <p:ext uri="{BB962C8B-B14F-4D97-AF65-F5344CB8AC3E}">
        <p14:creationId xmlns:p14="http://schemas.microsoft.com/office/powerpoint/2010/main" val="12172080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2620C7-F71A-5CB1-955C-08174D4D3C0B}"/>
              </a:ext>
            </a:extLst>
          </p:cNvPr>
          <p:cNvSpPr>
            <a:spLocks noGrp="1"/>
          </p:cNvSpPr>
          <p:nvPr>
            <p:ph type="title"/>
          </p:nvPr>
        </p:nvSpPr>
        <p:spPr>
          <a:xfrm>
            <a:off x="838200" y="266441"/>
            <a:ext cx="10515600" cy="741266"/>
          </a:xfrm>
        </p:spPr>
        <p:txBody>
          <a:bodyPr>
            <a:normAutofit/>
          </a:bodyPr>
          <a:lstStyle/>
          <a:p>
            <a:pPr algn="ctr"/>
            <a:r>
              <a:rPr lang="en-US" sz="3200" b="1" dirty="0">
                <a:solidFill>
                  <a:schemeClr val="accent1"/>
                </a:solidFill>
                <a:latin typeface="Times New Roman" panose="02020603050405020304" pitchFamily="18" charset="0"/>
                <a:cs typeface="Times New Roman" panose="02020603050405020304" pitchFamily="18" charset="0"/>
              </a:rPr>
              <a:t>Applications</a:t>
            </a:r>
            <a:endParaRPr lang="en-IN" sz="3200" b="1" dirty="0">
              <a:solidFill>
                <a:schemeClr val="accent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5EC9CE7-E362-8C8D-5BF5-ADB8955F8869}"/>
              </a:ext>
            </a:extLst>
          </p:cNvPr>
          <p:cNvSpPr>
            <a:spLocks noGrp="1"/>
          </p:cNvSpPr>
          <p:nvPr>
            <p:ph idx="1"/>
          </p:nvPr>
        </p:nvSpPr>
        <p:spPr>
          <a:xfrm>
            <a:off x="586273" y="1156996"/>
            <a:ext cx="11019453" cy="5514392"/>
          </a:xfrm>
        </p:spPr>
        <p:txBody>
          <a:bodyPr/>
          <a:lstStyle/>
          <a:p>
            <a:pPr algn="just"/>
            <a:r>
              <a:rPr lang="en-US" sz="2400" b="1" dirty="0">
                <a:latin typeface="Times New Roman" panose="02020603050405020304" pitchFamily="18" charset="0"/>
                <a:cs typeface="Times New Roman" panose="02020603050405020304" pitchFamily="18" charset="0"/>
              </a:rPr>
              <a:t>Student Safety and </a:t>
            </a:r>
            <a:r>
              <a:rPr lang="en-US" sz="2400" b="1" dirty="0" err="1">
                <a:latin typeface="Times New Roman" panose="02020603050405020304" pitchFamily="18" charset="0"/>
                <a:cs typeface="Times New Roman" panose="02020603050405020304" pitchFamily="18" charset="0"/>
              </a:rPr>
              <a:t>Security:</a:t>
            </a:r>
            <a:r>
              <a:rPr lang="en-US" sz="2400" dirty="0" err="1">
                <a:latin typeface="Times New Roman" panose="02020603050405020304" pitchFamily="18" charset="0"/>
                <a:cs typeface="Times New Roman" panose="02020603050405020304" pitchFamily="18" charset="0"/>
              </a:rPr>
              <a:t>Only</a:t>
            </a:r>
            <a:r>
              <a:rPr lang="en-US" sz="2400" dirty="0">
                <a:latin typeface="Times New Roman" panose="02020603050405020304" pitchFamily="18" charset="0"/>
                <a:cs typeface="Times New Roman" panose="02020603050405020304" pitchFamily="18" charset="0"/>
              </a:rPr>
              <a:t> authorized students can board the bus using RFID authentication, ensuring protection against unauthorized access.</a:t>
            </a:r>
          </a:p>
          <a:p>
            <a:pPr algn="just"/>
            <a:r>
              <a:rPr lang="en-US" sz="2400" b="1" dirty="0">
                <a:latin typeface="Times New Roman" panose="02020603050405020304" pitchFamily="18" charset="0"/>
                <a:cs typeface="Times New Roman" panose="02020603050405020304" pitchFamily="18" charset="0"/>
              </a:rPr>
              <a:t>Real-Time </a:t>
            </a:r>
            <a:r>
              <a:rPr lang="en-US" sz="2400" b="1" dirty="0" err="1">
                <a:latin typeface="Times New Roman" panose="02020603050405020304" pitchFamily="18" charset="0"/>
                <a:cs typeface="Times New Roman" panose="02020603050405020304" pitchFamily="18" charset="0"/>
              </a:rPr>
              <a:t>Tracking:</a:t>
            </a:r>
            <a:r>
              <a:rPr lang="en-US" sz="2400" dirty="0" err="1">
                <a:latin typeface="Times New Roman" panose="02020603050405020304" pitchFamily="18" charset="0"/>
                <a:cs typeface="Times New Roman" panose="02020603050405020304" pitchFamily="18" charset="0"/>
              </a:rPr>
              <a:t>The</a:t>
            </a:r>
            <a:r>
              <a:rPr lang="en-US" sz="2400" dirty="0">
                <a:latin typeface="Times New Roman" panose="02020603050405020304" pitchFamily="18" charset="0"/>
                <a:cs typeface="Times New Roman" panose="02020603050405020304" pitchFamily="18" charset="0"/>
              </a:rPr>
              <a:t> GPS and Arduino IoT Cloud enable live bus location tracking for parents and school authorities.</a:t>
            </a:r>
          </a:p>
          <a:p>
            <a:pPr algn="just"/>
            <a:r>
              <a:rPr lang="en-US" sz="2400" b="1" dirty="0">
                <a:latin typeface="Times New Roman" panose="02020603050405020304" pitchFamily="18" charset="0"/>
                <a:cs typeface="Times New Roman" panose="02020603050405020304" pitchFamily="18" charset="0"/>
              </a:rPr>
              <a:t>Parental Monitoring and </a:t>
            </a:r>
            <a:r>
              <a:rPr lang="en-US" sz="2400" b="1" dirty="0" err="1">
                <a:latin typeface="Times New Roman" panose="02020603050405020304" pitchFamily="18" charset="0"/>
                <a:cs typeface="Times New Roman" panose="02020603050405020304" pitchFamily="18" charset="0"/>
              </a:rPr>
              <a:t>Alerts:</a:t>
            </a:r>
            <a:r>
              <a:rPr lang="en-US" sz="2400" dirty="0" err="1">
                <a:latin typeface="Times New Roman" panose="02020603050405020304" pitchFamily="18" charset="0"/>
                <a:cs typeface="Times New Roman" panose="02020603050405020304" pitchFamily="18" charset="0"/>
              </a:rPr>
              <a:t>Parents</a:t>
            </a:r>
            <a:r>
              <a:rPr lang="en-US" sz="2400" dirty="0">
                <a:latin typeface="Times New Roman" panose="02020603050405020304" pitchFamily="18" charset="0"/>
                <a:cs typeface="Times New Roman" panose="02020603050405020304" pitchFamily="18" charset="0"/>
              </a:rPr>
              <a:t> can monitor the bus’s location and get updates on their child’s boarding status in real time.</a:t>
            </a:r>
          </a:p>
          <a:p>
            <a:pPr algn="just"/>
            <a:r>
              <a:rPr lang="en-US" sz="2400" b="1" dirty="0">
                <a:latin typeface="Times New Roman" panose="02020603050405020304" pitchFamily="18" charset="0"/>
                <a:cs typeface="Times New Roman" panose="02020603050405020304" pitchFamily="18" charset="0"/>
              </a:rPr>
              <a:t>Efficient School Transport </a:t>
            </a:r>
            <a:r>
              <a:rPr lang="en-US" sz="2400" b="1" dirty="0" err="1">
                <a:latin typeface="Times New Roman" panose="02020603050405020304" pitchFamily="18" charset="0"/>
                <a:cs typeface="Times New Roman" panose="02020603050405020304" pitchFamily="18" charset="0"/>
              </a:rPr>
              <a:t>Management:</a:t>
            </a:r>
            <a:r>
              <a:rPr lang="en-US" sz="2400" dirty="0" err="1">
                <a:latin typeface="Times New Roman" panose="02020603050405020304" pitchFamily="18" charset="0"/>
                <a:cs typeface="Times New Roman" panose="02020603050405020304" pitchFamily="18" charset="0"/>
              </a:rPr>
              <a:t>Helps</a:t>
            </a:r>
            <a:r>
              <a:rPr lang="en-US" sz="2400" dirty="0">
                <a:latin typeface="Times New Roman" panose="02020603050405020304" pitchFamily="18" charset="0"/>
                <a:cs typeface="Times New Roman" panose="02020603050405020304" pitchFamily="18" charset="0"/>
              </a:rPr>
              <a:t> school administrators optimize routes, monitor timings, and ensure safe transportation.</a:t>
            </a:r>
          </a:p>
          <a:p>
            <a:pPr algn="just"/>
            <a:r>
              <a:rPr lang="en-IN" sz="2400" b="1" dirty="0">
                <a:latin typeface="Times New Roman" panose="02020603050405020304" pitchFamily="18" charset="0"/>
                <a:cs typeface="Times New Roman" panose="02020603050405020304" pitchFamily="18" charset="0"/>
              </a:rPr>
              <a:t>Scalable Smart Transport System:</a:t>
            </a:r>
            <a:r>
              <a:rPr lang="en-US" sz="2400" dirty="0">
                <a:latin typeface="Times New Roman" panose="02020603050405020304" pitchFamily="18" charset="0"/>
                <a:cs typeface="Times New Roman" panose="02020603050405020304" pitchFamily="18" charset="0"/>
              </a:rPr>
              <a:t>The same concept can be extended to college buses, corporate fleets, or public transport for better automation.</a:t>
            </a:r>
          </a:p>
          <a:p>
            <a:pPr marL="0" indent="0">
              <a:buNone/>
            </a:pPr>
            <a:endParaRPr lang="en-IN" dirty="0"/>
          </a:p>
        </p:txBody>
      </p:sp>
    </p:spTree>
    <p:extLst>
      <p:ext uri="{BB962C8B-B14F-4D97-AF65-F5344CB8AC3E}">
        <p14:creationId xmlns:p14="http://schemas.microsoft.com/office/powerpoint/2010/main" val="29850095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FDD7DA-D454-032D-1E45-CAFFD1EB59BD}"/>
              </a:ext>
            </a:extLst>
          </p:cNvPr>
          <p:cNvSpPr>
            <a:spLocks noGrp="1"/>
          </p:cNvSpPr>
          <p:nvPr>
            <p:ph type="title"/>
          </p:nvPr>
        </p:nvSpPr>
        <p:spPr>
          <a:xfrm>
            <a:off x="838200" y="206505"/>
            <a:ext cx="10515600" cy="773209"/>
          </a:xfrm>
        </p:spPr>
        <p:txBody>
          <a:bodyPr>
            <a:normAutofit/>
          </a:bodyPr>
          <a:lstStyle/>
          <a:p>
            <a:pPr algn="ctr"/>
            <a:r>
              <a:rPr lang="en-US" sz="3200" b="1" dirty="0">
                <a:solidFill>
                  <a:schemeClr val="accent1"/>
                </a:solidFill>
                <a:latin typeface="Times New Roman" panose="02020603050405020304" pitchFamily="18" charset="0"/>
                <a:cs typeface="Times New Roman" panose="02020603050405020304" pitchFamily="18" charset="0"/>
              </a:rPr>
              <a:t>Limitations</a:t>
            </a:r>
            <a:endParaRPr lang="en-IN" sz="3200" b="1" dirty="0">
              <a:solidFill>
                <a:schemeClr val="accent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145F6DA-DD7C-EDE4-46C0-6F64D8B3FC37}"/>
              </a:ext>
            </a:extLst>
          </p:cNvPr>
          <p:cNvSpPr>
            <a:spLocks noGrp="1"/>
          </p:cNvSpPr>
          <p:nvPr>
            <p:ph idx="1"/>
          </p:nvPr>
        </p:nvSpPr>
        <p:spPr>
          <a:xfrm>
            <a:off x="642257" y="1091681"/>
            <a:ext cx="10907485" cy="5290457"/>
          </a:xfrm>
        </p:spPr>
        <p:txBody>
          <a:bodyPr/>
          <a:lstStyle/>
          <a:p>
            <a:pPr algn="just"/>
            <a:r>
              <a:rPr lang="en-IN" sz="2400" b="1" dirty="0">
                <a:latin typeface="Times New Roman" panose="02020603050405020304" pitchFamily="18" charset="0"/>
                <a:cs typeface="Times New Roman" panose="02020603050405020304" pitchFamily="18" charset="0"/>
              </a:rPr>
              <a:t>Internet </a:t>
            </a:r>
            <a:r>
              <a:rPr lang="en-IN" sz="2400" b="1" dirty="0" err="1">
                <a:latin typeface="Times New Roman" panose="02020603050405020304" pitchFamily="18" charset="0"/>
                <a:cs typeface="Times New Roman" panose="02020603050405020304" pitchFamily="18" charset="0"/>
              </a:rPr>
              <a:t>Dependency:</a:t>
            </a:r>
            <a:r>
              <a:rPr lang="en-IN" sz="2400" dirty="0" err="1">
                <a:latin typeface="Times New Roman" panose="02020603050405020304" pitchFamily="18" charset="0"/>
                <a:cs typeface="Times New Roman" panose="02020603050405020304" pitchFamily="18" charset="0"/>
              </a:rPr>
              <a:t>The</a:t>
            </a:r>
            <a:r>
              <a:rPr lang="en-IN" sz="2400" dirty="0">
                <a:latin typeface="Times New Roman" panose="02020603050405020304" pitchFamily="18" charset="0"/>
                <a:cs typeface="Times New Roman" panose="02020603050405020304" pitchFamily="18" charset="0"/>
              </a:rPr>
              <a:t> system relies on a stable internet connection for real-time data upload to the Arduino IoT Cloud. Poor network coverage can cause delayed updates.</a:t>
            </a:r>
          </a:p>
          <a:p>
            <a:pPr algn="just"/>
            <a:r>
              <a:rPr lang="en-IN" sz="2400" b="1" dirty="0">
                <a:latin typeface="Times New Roman" panose="02020603050405020304" pitchFamily="18" charset="0"/>
                <a:cs typeface="Times New Roman" panose="02020603050405020304" pitchFamily="18" charset="0"/>
              </a:rPr>
              <a:t>RFID Card </a:t>
            </a:r>
            <a:r>
              <a:rPr lang="en-IN" sz="2400" b="1" dirty="0" err="1">
                <a:latin typeface="Times New Roman" panose="02020603050405020304" pitchFamily="18" charset="0"/>
                <a:cs typeface="Times New Roman" panose="02020603050405020304" pitchFamily="18" charset="0"/>
              </a:rPr>
              <a:t>Misuse:</a:t>
            </a:r>
            <a:r>
              <a:rPr lang="en-IN" sz="2400" dirty="0" err="1">
                <a:latin typeface="Times New Roman" panose="02020603050405020304" pitchFamily="18" charset="0"/>
                <a:cs typeface="Times New Roman" panose="02020603050405020304" pitchFamily="18" charset="0"/>
              </a:rPr>
              <a:t>Since</a:t>
            </a:r>
            <a:r>
              <a:rPr lang="en-IN" sz="2400" dirty="0">
                <a:latin typeface="Times New Roman" panose="02020603050405020304" pitchFamily="18" charset="0"/>
                <a:cs typeface="Times New Roman" panose="02020603050405020304" pitchFamily="18" charset="0"/>
              </a:rPr>
              <a:t> the system lacks biometric or facial recognition, anyone carrying a student’s RFID card could misuse it to gain unauthorized access.</a:t>
            </a:r>
          </a:p>
          <a:p>
            <a:pPr algn="just"/>
            <a:r>
              <a:rPr lang="en-IN" sz="2400" b="1" dirty="0">
                <a:latin typeface="Times New Roman" panose="02020603050405020304" pitchFamily="18" charset="0"/>
                <a:cs typeface="Times New Roman" panose="02020603050405020304" pitchFamily="18" charset="0"/>
              </a:rPr>
              <a:t>Initial Cost and </a:t>
            </a:r>
            <a:r>
              <a:rPr lang="en-IN" sz="2400" b="1" dirty="0" err="1">
                <a:latin typeface="Times New Roman" panose="02020603050405020304" pitchFamily="18" charset="0"/>
                <a:cs typeface="Times New Roman" panose="02020603050405020304" pitchFamily="18" charset="0"/>
              </a:rPr>
              <a:t>Scalability:</a:t>
            </a:r>
            <a:r>
              <a:rPr lang="en-IN" sz="2400" dirty="0" err="1">
                <a:latin typeface="Times New Roman" panose="02020603050405020304" pitchFamily="18" charset="0"/>
                <a:cs typeface="Times New Roman" panose="02020603050405020304" pitchFamily="18" charset="0"/>
              </a:rPr>
              <a:t>Setting</a:t>
            </a:r>
            <a:r>
              <a:rPr lang="en-IN" sz="2400" dirty="0">
                <a:latin typeface="Times New Roman" panose="02020603050405020304" pitchFamily="18" charset="0"/>
                <a:cs typeface="Times New Roman" panose="02020603050405020304" pitchFamily="18" charset="0"/>
              </a:rPr>
              <a:t> up multiple buses requires more devices and cloud subscriptions, increasing initial implementation cost.</a:t>
            </a:r>
          </a:p>
          <a:p>
            <a:pPr marL="0" indent="0">
              <a:buNone/>
            </a:pPr>
            <a:endParaRPr lang="en-IN" dirty="0"/>
          </a:p>
        </p:txBody>
      </p:sp>
    </p:spTree>
    <p:extLst>
      <p:ext uri="{BB962C8B-B14F-4D97-AF65-F5344CB8AC3E}">
        <p14:creationId xmlns:p14="http://schemas.microsoft.com/office/powerpoint/2010/main" val="190358871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5023F7-3C14-90F4-3BCA-53D859ED3B3C}"/>
              </a:ext>
            </a:extLst>
          </p:cNvPr>
          <p:cNvSpPr>
            <a:spLocks noGrp="1"/>
          </p:cNvSpPr>
          <p:nvPr>
            <p:ph type="title"/>
          </p:nvPr>
        </p:nvSpPr>
        <p:spPr>
          <a:xfrm>
            <a:off x="838200" y="0"/>
            <a:ext cx="10515600" cy="669303"/>
          </a:xfrm>
        </p:spPr>
        <p:txBody>
          <a:bodyPr>
            <a:normAutofit/>
          </a:bodyPr>
          <a:lstStyle/>
          <a:p>
            <a:pPr algn="ctr"/>
            <a:r>
              <a:rPr lang="en-US" sz="3200" b="1" dirty="0">
                <a:solidFill>
                  <a:schemeClr val="accent1"/>
                </a:solidFill>
                <a:latin typeface="Times New Roman" panose="02020603050405020304" pitchFamily="18" charset="0"/>
                <a:cs typeface="Times New Roman" panose="02020603050405020304" pitchFamily="18" charset="0"/>
              </a:rPr>
              <a:t>Result &amp; Reflection</a:t>
            </a:r>
            <a:endParaRPr lang="en-IN" sz="3200" b="1" dirty="0">
              <a:solidFill>
                <a:schemeClr val="accent1"/>
              </a:solidFill>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84FBF26A-4332-2150-2B0E-D51B1BCEE062}"/>
              </a:ext>
            </a:extLst>
          </p:cNvPr>
          <p:cNvSpPr>
            <a:spLocks noGrp="1"/>
          </p:cNvSpPr>
          <p:nvPr>
            <p:ph idx="1"/>
          </p:nvPr>
        </p:nvSpPr>
        <p:spPr>
          <a:xfrm>
            <a:off x="301658" y="565608"/>
            <a:ext cx="11689236" cy="6212264"/>
          </a:xfrm>
        </p:spPr>
        <p:txBody>
          <a:bodyPr/>
          <a:lstStyle/>
          <a:p>
            <a:r>
              <a:rPr lang="en-US" sz="2400" dirty="0">
                <a:latin typeface="Times New Roman" panose="02020603050405020304" pitchFamily="18" charset="0"/>
                <a:cs typeface="Times New Roman" panose="02020603050405020304" pitchFamily="18" charset="0"/>
              </a:rPr>
              <a:t>When a valid RFID card is scanned, the system instantly authenticates the student and activates the relay to open the solenoid lock as shown in 1</a:t>
            </a:r>
            <a:r>
              <a:rPr lang="en-US" sz="2400" baseline="30000" dirty="0">
                <a:latin typeface="Times New Roman" panose="02020603050405020304" pitchFamily="18" charset="0"/>
                <a:cs typeface="Times New Roman" panose="02020603050405020304" pitchFamily="18" charset="0"/>
              </a:rPr>
              <a:t>st</a:t>
            </a:r>
            <a:r>
              <a:rPr lang="en-US" sz="2400" dirty="0">
                <a:latin typeface="Times New Roman" panose="02020603050405020304" pitchFamily="18" charset="0"/>
                <a:cs typeface="Times New Roman" panose="02020603050405020304" pitchFamily="18" charset="0"/>
              </a:rPr>
              <a:t> picture. The green LED glows to indicate successful entry, and after a few seconds the door automatically closes, ensuring controlled access.</a:t>
            </a:r>
          </a:p>
          <a:p>
            <a:r>
              <a:rPr lang="en-US" sz="2400" dirty="0">
                <a:latin typeface="Times New Roman" panose="02020603050405020304" pitchFamily="18" charset="0"/>
                <a:cs typeface="Times New Roman" panose="02020603050405020304" pitchFamily="18" charset="0"/>
              </a:rPr>
              <a:t>If an unauthorized or invalid RFID card is scanned as shown in 2</a:t>
            </a:r>
            <a:r>
              <a:rPr lang="en-US" sz="2400" baseline="30000" dirty="0">
                <a:latin typeface="Times New Roman" panose="02020603050405020304" pitchFamily="18" charset="0"/>
                <a:cs typeface="Times New Roman" panose="02020603050405020304" pitchFamily="18" charset="0"/>
              </a:rPr>
              <a:t>nd</a:t>
            </a:r>
            <a:r>
              <a:rPr lang="en-US" sz="2400" dirty="0">
                <a:latin typeface="Times New Roman" panose="02020603050405020304" pitchFamily="18" charset="0"/>
                <a:cs typeface="Times New Roman" panose="02020603050405020304" pitchFamily="18" charset="0"/>
              </a:rPr>
              <a:t> picture, the system rejects the entry and keeps the solenoid lock closed. The red LED turns ON and the buzzer sounds to alert about the invalid attempt, preventing unauthorized boarding.</a:t>
            </a:r>
            <a:endParaRPr lang="en-IN" sz="2400"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52ABAC8B-6594-FA19-2D80-0FEFFEC7D8C0}"/>
              </a:ext>
            </a:extLst>
          </p:cNvPr>
          <p:cNvPicPr>
            <a:picLocks noChangeAspect="1"/>
          </p:cNvPicPr>
          <p:nvPr/>
        </p:nvPicPr>
        <p:blipFill rotWithShape="1">
          <a:blip r:embed="rId2">
            <a:extLst>
              <a:ext uri="{28A0092B-C50C-407E-A947-70E740481C1C}">
                <a14:useLocalDpi xmlns:a14="http://schemas.microsoft.com/office/drawing/2010/main" val="0"/>
              </a:ext>
            </a:extLst>
          </a:blip>
          <a:srcRect l="3324" t="17867" r="5264" b="35679"/>
          <a:stretch>
            <a:fillRect/>
          </a:stretch>
        </p:blipFill>
        <p:spPr bwMode="auto">
          <a:xfrm>
            <a:off x="838200" y="3157978"/>
            <a:ext cx="4563359" cy="3214541"/>
          </a:xfrm>
          <a:prstGeom prst="rect">
            <a:avLst/>
          </a:prstGeom>
          <a:ln>
            <a:noFill/>
          </a:ln>
          <a:extLst>
            <a:ext uri="{53640926-AAD7-44D8-BBD7-CCE9431645EC}">
              <a14:shadowObscured xmlns:a14="http://schemas.microsoft.com/office/drawing/2010/main"/>
            </a:ext>
          </a:extLst>
        </p:spPr>
      </p:pic>
      <p:pic>
        <p:nvPicPr>
          <p:cNvPr id="11" name="Picture 10">
            <a:extLst>
              <a:ext uri="{FF2B5EF4-FFF2-40B4-BE49-F238E27FC236}">
                <a16:creationId xmlns:a16="http://schemas.microsoft.com/office/drawing/2014/main" id="{32591A9D-7DD0-A6B2-5B57-E2F8600AFED2}"/>
              </a:ext>
            </a:extLst>
          </p:cNvPr>
          <p:cNvPicPr>
            <a:picLocks noChangeAspect="1"/>
          </p:cNvPicPr>
          <p:nvPr/>
        </p:nvPicPr>
        <p:blipFill rotWithShape="1">
          <a:blip r:embed="rId3">
            <a:extLst>
              <a:ext uri="{28A0092B-C50C-407E-A947-70E740481C1C}">
                <a14:useLocalDpi xmlns:a14="http://schemas.microsoft.com/office/drawing/2010/main" val="0"/>
              </a:ext>
            </a:extLst>
          </a:blip>
          <a:srcRect l="3030" t="12799" r="6858" b="36244"/>
          <a:stretch>
            <a:fillRect/>
          </a:stretch>
        </p:blipFill>
        <p:spPr bwMode="auto">
          <a:xfrm>
            <a:off x="6027340" y="3157977"/>
            <a:ext cx="4907753" cy="3214541"/>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400348819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BBE5725-A131-37E2-B4E3-96D99E313064}"/>
              </a:ext>
            </a:extLst>
          </p:cNvPr>
          <p:cNvSpPr>
            <a:spLocks noGrp="1"/>
          </p:cNvSpPr>
          <p:nvPr>
            <p:ph idx="1"/>
          </p:nvPr>
        </p:nvSpPr>
        <p:spPr>
          <a:xfrm>
            <a:off x="461913" y="254524"/>
            <a:ext cx="11265031" cy="6315958"/>
          </a:xfrm>
        </p:spPr>
        <p:txBody>
          <a:bodyPr>
            <a:normAutofit/>
          </a:bodyPr>
          <a:lstStyle/>
          <a:p>
            <a:r>
              <a:rPr lang="en-US" sz="2400" dirty="0">
                <a:latin typeface="Times New Roman" panose="02020603050405020304" pitchFamily="18" charset="0"/>
                <a:cs typeface="Times New Roman" panose="02020603050405020304" pitchFamily="18" charset="0"/>
              </a:rPr>
              <a:t>The LCD accurately displays the authentication status of each scanned RFID card. For a valid ID, it shows the student’s name along with messages like “VALID-ID..ENTER” and “DOORS…CLOSING”, indicating successful access and automatic door operation. For an invalid ID, the LCD clearly alerts with “INVALID!!!..STOP”, preventing access and triggering safety alerts.</a:t>
            </a:r>
          </a:p>
          <a:p>
            <a:r>
              <a:rPr lang="en-US" sz="2400" dirty="0">
                <a:latin typeface="Times New Roman" panose="02020603050405020304" pitchFamily="18" charset="0"/>
                <a:cs typeface="Times New Roman" panose="02020603050405020304" pitchFamily="18" charset="0"/>
              </a:rPr>
              <a:t>The Arduino IoT Cloud dashboard displays real-time student entry logs along with the live GPS location of the bus. This allows parents and school authorities to continuously monitor the bus movement and verify each authentication securely.</a:t>
            </a:r>
            <a:endParaRPr lang="en-IN" sz="24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EAEFFEE4-1BA9-B9C6-C475-1B3380C6067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8253" y="3252247"/>
            <a:ext cx="4050502" cy="2159433"/>
          </a:xfrm>
          <a:prstGeom prst="rect">
            <a:avLst/>
          </a:prstGeom>
        </p:spPr>
      </p:pic>
      <p:pic>
        <p:nvPicPr>
          <p:cNvPr id="5" name="Picture 4">
            <a:extLst>
              <a:ext uri="{FF2B5EF4-FFF2-40B4-BE49-F238E27FC236}">
                <a16:creationId xmlns:a16="http://schemas.microsoft.com/office/drawing/2014/main" id="{85139AEC-65BE-1306-9199-75C8C3A44926}"/>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9176" t="18104" r="6588" b="7758"/>
          <a:stretch>
            <a:fillRect/>
          </a:stretch>
        </p:blipFill>
        <p:spPr bwMode="auto">
          <a:xfrm>
            <a:off x="1068252" y="5411680"/>
            <a:ext cx="4050502" cy="857459"/>
          </a:xfrm>
          <a:prstGeom prst="rect">
            <a:avLst/>
          </a:prstGeom>
          <a:ln>
            <a:noFill/>
          </a:ln>
          <a:extLst>
            <a:ext uri="{53640926-AAD7-44D8-BBD7-CCE9431645EC}">
              <a14:shadowObscured xmlns:a14="http://schemas.microsoft.com/office/drawing/2010/main"/>
            </a:ext>
          </a:extLst>
        </p:spPr>
      </p:pic>
      <p:pic>
        <p:nvPicPr>
          <p:cNvPr id="6" name="Picture 5">
            <a:extLst>
              <a:ext uri="{FF2B5EF4-FFF2-40B4-BE49-F238E27FC236}">
                <a16:creationId xmlns:a16="http://schemas.microsoft.com/office/drawing/2014/main" id="{6775417A-0894-C1C3-63B7-1FDA209CB76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999927" y="2780122"/>
            <a:ext cx="2321665" cy="3941098"/>
          </a:xfrm>
          <a:prstGeom prst="rect">
            <a:avLst/>
          </a:prstGeom>
        </p:spPr>
      </p:pic>
    </p:spTree>
    <p:extLst>
      <p:ext uri="{BB962C8B-B14F-4D97-AF65-F5344CB8AC3E}">
        <p14:creationId xmlns:p14="http://schemas.microsoft.com/office/powerpoint/2010/main" val="386252914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4B1DA05-0D98-D4C1-1664-48B0A117A2FC}"/>
              </a:ext>
            </a:extLst>
          </p:cNvPr>
          <p:cNvSpPr>
            <a:spLocks noGrp="1"/>
          </p:cNvSpPr>
          <p:nvPr>
            <p:ph idx="1"/>
          </p:nvPr>
        </p:nvSpPr>
        <p:spPr>
          <a:xfrm>
            <a:off x="443059" y="320510"/>
            <a:ext cx="11453567" cy="6410228"/>
          </a:xfrm>
        </p:spPr>
        <p:txBody>
          <a:bodyPr>
            <a:normAutofit lnSpcReduction="10000"/>
          </a:bodyPr>
          <a:lstStyle/>
          <a:p>
            <a:pPr marL="0" indent="0">
              <a:buNone/>
            </a:pPr>
            <a:r>
              <a:rPr lang="en-US" sz="2400" dirty="0">
                <a:latin typeface="Times New Roman" panose="02020603050405020304" pitchFamily="18" charset="0"/>
                <a:cs typeface="Times New Roman" panose="02020603050405020304" pitchFamily="18" charset="0"/>
              </a:rPr>
              <a:t>The integration of RFID authentication, GPS tracking, and IoT Cloud connectivity created a complete and reliable safety ecosystem for school bus operations. The prototype effectively prevented unauthorized entry while offering real-time bus location visibility to parents and administrators, improving transparency and trust. With ESP32 handling multiple tasks efficiently, the system proved highly responsive, scalable, and suitable for deployment in real-world school transportation environments.</a:t>
            </a:r>
          </a:p>
          <a:p>
            <a:pPr marL="0" indent="0">
              <a:buNone/>
            </a:pPr>
            <a:endParaRPr lang="en-US" sz="2400" dirty="0">
              <a:latin typeface="Times New Roman" panose="02020603050405020304" pitchFamily="18" charset="0"/>
              <a:cs typeface="Times New Roman" panose="02020603050405020304" pitchFamily="18" charset="0"/>
            </a:endParaRPr>
          </a:p>
          <a:p>
            <a:pPr marL="0" indent="0">
              <a:buNone/>
            </a:pPr>
            <a:endParaRPr lang="en-US" sz="2400" dirty="0">
              <a:latin typeface="Times New Roman" panose="02020603050405020304" pitchFamily="18" charset="0"/>
              <a:cs typeface="Times New Roman" panose="02020603050405020304" pitchFamily="18" charset="0"/>
            </a:endParaRPr>
          </a:p>
          <a:p>
            <a:pPr marL="0" indent="0">
              <a:buNone/>
            </a:pPr>
            <a:endParaRPr lang="en-US" sz="2400" dirty="0">
              <a:latin typeface="Times New Roman" panose="02020603050405020304" pitchFamily="18" charset="0"/>
              <a:cs typeface="Times New Roman" panose="02020603050405020304" pitchFamily="18" charset="0"/>
            </a:endParaRPr>
          </a:p>
          <a:p>
            <a:pPr marL="0" indent="0">
              <a:buNone/>
            </a:pPr>
            <a:endParaRPr lang="en-US" sz="2400" dirty="0">
              <a:latin typeface="Times New Roman" panose="02020603050405020304" pitchFamily="18" charset="0"/>
              <a:cs typeface="Times New Roman" panose="02020603050405020304" pitchFamily="18" charset="0"/>
            </a:endParaRPr>
          </a:p>
          <a:p>
            <a:pPr marL="0" indent="0">
              <a:buNone/>
            </a:pPr>
            <a:endParaRPr lang="en-US" sz="2400" dirty="0">
              <a:latin typeface="Times New Roman" panose="02020603050405020304" pitchFamily="18" charset="0"/>
              <a:cs typeface="Times New Roman" panose="02020603050405020304" pitchFamily="18" charset="0"/>
            </a:endParaRPr>
          </a:p>
          <a:p>
            <a:pPr marL="0" indent="0">
              <a:buNone/>
            </a:pPr>
            <a:endParaRPr lang="en-US" sz="2400" dirty="0">
              <a:latin typeface="Times New Roman" panose="02020603050405020304" pitchFamily="18" charset="0"/>
              <a:cs typeface="Times New Roman" panose="02020603050405020304" pitchFamily="18" charset="0"/>
            </a:endParaRPr>
          </a:p>
          <a:p>
            <a:pPr marL="0" indent="0">
              <a:buNone/>
            </a:pPr>
            <a:endParaRPr lang="en-US" sz="2400" dirty="0">
              <a:latin typeface="Times New Roman" panose="02020603050405020304" pitchFamily="18" charset="0"/>
              <a:cs typeface="Times New Roman" panose="02020603050405020304" pitchFamily="18" charset="0"/>
            </a:endParaRPr>
          </a:p>
          <a:p>
            <a:pPr marL="0" indent="0">
              <a:buNone/>
            </a:pPr>
            <a:endParaRPr lang="en-US" sz="2400" dirty="0">
              <a:latin typeface="Times New Roman" panose="02020603050405020304" pitchFamily="18" charset="0"/>
              <a:cs typeface="Times New Roman" panose="02020603050405020304" pitchFamily="18" charset="0"/>
            </a:endParaRPr>
          </a:p>
          <a:p>
            <a:pPr marL="0" indent="0">
              <a:buNone/>
            </a:pPr>
            <a:endParaRPr lang="en-IN" sz="2000" dirty="0">
              <a:latin typeface="Times New Roman" panose="02020603050405020304" pitchFamily="18" charset="0"/>
              <a:cs typeface="Times New Roman" panose="02020603050405020304" pitchFamily="18" charset="0"/>
            </a:endParaRPr>
          </a:p>
          <a:p>
            <a:pPr marL="0" indent="0">
              <a:buNone/>
            </a:pPr>
            <a:endParaRPr lang="en-IN" sz="2000" dirty="0">
              <a:latin typeface="Times New Roman" panose="02020603050405020304" pitchFamily="18" charset="0"/>
              <a:cs typeface="Times New Roman" panose="02020603050405020304" pitchFamily="18" charset="0"/>
            </a:endParaRPr>
          </a:p>
          <a:p>
            <a:pPr marL="0" indent="0">
              <a:buNone/>
            </a:pPr>
            <a:r>
              <a:rPr lang="en-IN" sz="2000" dirty="0">
                <a:latin typeface="Times New Roman" panose="02020603050405020304" pitchFamily="18" charset="0"/>
                <a:cs typeface="Times New Roman" panose="02020603050405020304" pitchFamily="18" charset="0"/>
              </a:rPr>
              <a:t>                                                                                Project Model</a:t>
            </a:r>
            <a:endParaRPr lang="en-US" sz="20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7646B0F5-9F59-74F3-D7F6-92927862C7E3}"/>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5475" r="3735" b="7890"/>
          <a:stretch>
            <a:fillRect/>
          </a:stretch>
        </p:blipFill>
        <p:spPr bwMode="auto">
          <a:xfrm>
            <a:off x="3289955" y="2422689"/>
            <a:ext cx="5778631" cy="3780147"/>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79564590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221802-328A-C462-60CE-F46335164918}"/>
              </a:ext>
            </a:extLst>
          </p:cNvPr>
          <p:cNvSpPr>
            <a:spLocks noGrp="1"/>
          </p:cNvSpPr>
          <p:nvPr>
            <p:ph type="title"/>
          </p:nvPr>
        </p:nvSpPr>
        <p:spPr>
          <a:xfrm>
            <a:off x="838200" y="160257"/>
            <a:ext cx="10515600" cy="678729"/>
          </a:xfrm>
        </p:spPr>
        <p:txBody>
          <a:bodyPr>
            <a:normAutofit/>
          </a:bodyPr>
          <a:lstStyle/>
          <a:p>
            <a:pPr algn="ctr"/>
            <a:r>
              <a:rPr lang="en-US" sz="3200" b="1" dirty="0">
                <a:solidFill>
                  <a:schemeClr val="accent1"/>
                </a:solidFill>
                <a:latin typeface="Times New Roman" panose="02020603050405020304" pitchFamily="18" charset="0"/>
                <a:cs typeface="Times New Roman" panose="02020603050405020304" pitchFamily="18" charset="0"/>
              </a:rPr>
              <a:t>Conclusion</a:t>
            </a:r>
            <a:endParaRPr lang="en-IN" sz="3200" b="1" dirty="0">
              <a:solidFill>
                <a:schemeClr val="accent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4E091C3-C040-C283-ABD6-572CDE180811}"/>
              </a:ext>
            </a:extLst>
          </p:cNvPr>
          <p:cNvSpPr>
            <a:spLocks noGrp="1"/>
          </p:cNvSpPr>
          <p:nvPr>
            <p:ph idx="1"/>
          </p:nvPr>
        </p:nvSpPr>
        <p:spPr>
          <a:xfrm>
            <a:off x="556181" y="1065228"/>
            <a:ext cx="11161337" cy="5401559"/>
          </a:xfrm>
        </p:spPr>
        <p:txBody>
          <a:bodyPr>
            <a:normAutofit/>
          </a:bodyPr>
          <a:lstStyle/>
          <a:p>
            <a:pPr algn="just"/>
            <a:r>
              <a:rPr lang="en-US" sz="2400" dirty="0">
                <a:latin typeface="Times New Roman" panose="02020603050405020304" pitchFamily="18" charset="0"/>
                <a:cs typeface="Times New Roman" panose="02020603050405020304" pitchFamily="18" charset="0"/>
              </a:rPr>
              <a:t>The system successfully enhances school bus safety by integrating RFID authentication, GPS tracking, and IoT cloud monitoring into a single, reliable solution.</a:t>
            </a:r>
          </a:p>
          <a:p>
            <a:pPr algn="just"/>
            <a:r>
              <a:rPr lang="en-US" sz="2400" dirty="0">
                <a:latin typeface="Times New Roman" panose="02020603050405020304" pitchFamily="18" charset="0"/>
                <a:cs typeface="Times New Roman" panose="02020603050405020304" pitchFamily="18" charset="0"/>
              </a:rPr>
              <a:t>Unauthorized access is effectively prevented, and real-time bus location updates ensure transparency for parents and school authorities.</a:t>
            </a:r>
          </a:p>
          <a:p>
            <a:pPr algn="just"/>
            <a:r>
              <a:rPr lang="en-US" sz="2400" dirty="0">
                <a:latin typeface="Times New Roman" panose="02020603050405020304" pitchFamily="18" charset="0"/>
                <a:cs typeface="Times New Roman" panose="02020603050405020304" pitchFamily="18" charset="0"/>
              </a:rPr>
              <a:t>The prototype proved efficient, accurate, and scalable, making it suitable for implementation in real-world school transportation systems.</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5294616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F07883-1D4A-E4D4-C2F2-0186E49CFBC3}"/>
              </a:ext>
            </a:extLst>
          </p:cNvPr>
          <p:cNvSpPr>
            <a:spLocks noGrp="1"/>
          </p:cNvSpPr>
          <p:nvPr>
            <p:ph type="title"/>
          </p:nvPr>
        </p:nvSpPr>
        <p:spPr>
          <a:xfrm>
            <a:off x="838200" y="207809"/>
            <a:ext cx="10515600" cy="637765"/>
          </a:xfrm>
        </p:spPr>
        <p:txBody>
          <a:bodyPr>
            <a:normAutofit/>
          </a:bodyPr>
          <a:lstStyle/>
          <a:p>
            <a:pPr algn="ctr"/>
            <a:r>
              <a:rPr lang="en-US" sz="3200" b="1" dirty="0">
                <a:solidFill>
                  <a:schemeClr val="accent1"/>
                </a:solidFill>
                <a:latin typeface="Times New Roman" panose="02020603050405020304" pitchFamily="18" charset="0"/>
                <a:cs typeface="Times New Roman" panose="02020603050405020304" pitchFamily="18" charset="0"/>
              </a:rPr>
              <a:t>REFERENCES</a:t>
            </a:r>
            <a:endParaRPr lang="en-IN" sz="3200" b="1" dirty="0">
              <a:solidFill>
                <a:schemeClr val="accent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60B6FBB-5750-C75E-DBF3-E9AD1B010E62}"/>
              </a:ext>
            </a:extLst>
          </p:cNvPr>
          <p:cNvSpPr>
            <a:spLocks noGrp="1"/>
          </p:cNvSpPr>
          <p:nvPr>
            <p:ph idx="1"/>
          </p:nvPr>
        </p:nvSpPr>
        <p:spPr>
          <a:xfrm>
            <a:off x="491613" y="845574"/>
            <a:ext cx="11189110" cy="5486400"/>
          </a:xfrm>
        </p:spPr>
        <p:txBody>
          <a:bodyPr/>
          <a:lstStyle/>
          <a:p>
            <a:pPr marL="0" indent="0" algn="just">
              <a:buNone/>
            </a:pPr>
            <a:r>
              <a:rPr lang="en-US" sz="2400" dirty="0">
                <a:latin typeface="Times New Roman" panose="02020603050405020304" pitchFamily="18" charset="0"/>
                <a:cs typeface="Times New Roman" panose="02020603050405020304" pitchFamily="18" charset="0"/>
              </a:rPr>
              <a:t>[1] D. R. S. Sona and S. Deepika, “IoT-Based Smart School Bus Monitoring and Notification System,” International Journal of Innovative Science and Advanced Technology (IJISAE), vol. 2, no. 6, pp. 311–316, 2024.</a:t>
            </a:r>
          </a:p>
          <a:p>
            <a:pPr marL="0" indent="0" algn="just">
              <a:buNone/>
            </a:pPr>
            <a:r>
              <a:rPr lang="en-US" sz="2400" dirty="0">
                <a:latin typeface="Times New Roman" panose="02020603050405020304" pitchFamily="18" charset="0"/>
                <a:cs typeface="Times New Roman" panose="02020603050405020304" pitchFamily="18" charset="0"/>
              </a:rPr>
              <a:t>[2] G. D. Asha and S. R. Shinde, “Digitalization of College Bus Transportation System,” International Journal of Engineering Research &amp; Technology (IJERT</a:t>
            </a:r>
            <a:r>
              <a:rPr lang="en-US" sz="2400" i="1" dirty="0">
                <a:latin typeface="Times New Roman" panose="02020603050405020304" pitchFamily="18" charset="0"/>
                <a:cs typeface="Times New Roman" panose="02020603050405020304" pitchFamily="18" charset="0"/>
              </a:rPr>
              <a:t>)</a:t>
            </a:r>
            <a:r>
              <a:rPr lang="en-US" sz="2400" dirty="0">
                <a:latin typeface="Times New Roman" panose="02020603050405020304" pitchFamily="18" charset="0"/>
                <a:cs typeface="Times New Roman" panose="02020603050405020304" pitchFamily="18" charset="0"/>
              </a:rPr>
              <a:t>, 2023.</a:t>
            </a:r>
          </a:p>
          <a:p>
            <a:pPr marL="0" indent="0" algn="just">
              <a:buNone/>
            </a:pPr>
            <a:r>
              <a:rPr lang="en-US" sz="2400" dirty="0">
                <a:latin typeface="Times New Roman" panose="02020603050405020304" pitchFamily="18" charset="0"/>
                <a:cs typeface="Times New Roman" panose="02020603050405020304" pitchFamily="18" charset="0"/>
              </a:rPr>
              <a:t>[3] A. S. Sharma and D. S. Shelke, “IoT Based Real Time School Bus Tracking and Monitoring,” Journal of Emerging Technologies and Innovative Research (JETIR), vol. 9, no. 7, pp. 1492–1496, July 2022.</a:t>
            </a:r>
          </a:p>
          <a:p>
            <a:pPr marL="0" indent="0" algn="just">
              <a:buNone/>
            </a:pPr>
            <a:r>
              <a:rPr lang="en-US" sz="2400" dirty="0">
                <a:latin typeface="Times New Roman" panose="02020603050405020304" pitchFamily="18" charset="0"/>
                <a:cs typeface="Times New Roman" panose="02020603050405020304" pitchFamily="18" charset="0"/>
              </a:rPr>
              <a:t>[4] R. M. Patil and A. A. </a:t>
            </a:r>
            <a:r>
              <a:rPr lang="en-US" sz="2400" dirty="0" err="1">
                <a:latin typeface="Times New Roman" panose="02020603050405020304" pitchFamily="18" charset="0"/>
                <a:cs typeface="Times New Roman" panose="02020603050405020304" pitchFamily="18" charset="0"/>
              </a:rPr>
              <a:t>Talikoti</a:t>
            </a:r>
            <a:r>
              <a:rPr lang="en-US" sz="2400" dirty="0">
                <a:latin typeface="Times New Roman" panose="02020603050405020304" pitchFamily="18" charset="0"/>
                <a:cs typeface="Times New Roman" panose="02020603050405020304" pitchFamily="18" charset="0"/>
              </a:rPr>
              <a:t>, “IoT Based School Bus Monitoring and Notification System,” International Research Journal of Engineering and Technology (IRJET), vol. 5, no. 3, pp. 1838–1842, Mar. 2018.</a:t>
            </a:r>
          </a:p>
          <a:p>
            <a:pPr marL="0" indent="0">
              <a:buNone/>
            </a:pPr>
            <a:endParaRPr lang="en-IN" dirty="0"/>
          </a:p>
        </p:txBody>
      </p:sp>
    </p:spTree>
    <p:extLst>
      <p:ext uri="{BB962C8B-B14F-4D97-AF65-F5344CB8AC3E}">
        <p14:creationId xmlns:p14="http://schemas.microsoft.com/office/powerpoint/2010/main" val="181876730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4168CCA-9E25-7F6D-F448-0BDB47AF5642}"/>
              </a:ext>
            </a:extLst>
          </p:cNvPr>
          <p:cNvSpPr>
            <a:spLocks noGrp="1"/>
          </p:cNvSpPr>
          <p:nvPr>
            <p:ph idx="1"/>
          </p:nvPr>
        </p:nvSpPr>
        <p:spPr>
          <a:xfrm>
            <a:off x="838200" y="530942"/>
            <a:ext cx="10515600" cy="5646021"/>
          </a:xfrm>
        </p:spPr>
        <p:txBody>
          <a:bodyPr/>
          <a:lstStyle/>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r>
              <a:rPr lang="en-US" sz="4000" dirty="0"/>
              <a:t>                       </a:t>
            </a:r>
            <a:r>
              <a:rPr lang="en-US" sz="6600" b="1" dirty="0">
                <a:solidFill>
                  <a:schemeClr val="accent2"/>
                </a:solidFill>
                <a:latin typeface="Times New Roman" panose="02020603050405020304" pitchFamily="18" charset="0"/>
                <a:cs typeface="Times New Roman" panose="02020603050405020304" pitchFamily="18" charset="0"/>
              </a:rPr>
              <a:t>THANK YOU</a:t>
            </a:r>
            <a:endParaRPr lang="en-IN" sz="6600" b="1" dirty="0">
              <a:solidFill>
                <a:schemeClr val="accent2"/>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2781955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1041</TotalTime>
  <Words>2437</Words>
  <Application>Microsoft Office PowerPoint</Application>
  <PresentationFormat>Widescreen</PresentationFormat>
  <Paragraphs>214</Paragraphs>
  <Slides>27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27</vt:i4>
      </vt:variant>
    </vt:vector>
  </HeadingPairs>
  <TitlesOfParts>
    <vt:vector size="32" baseType="lpstr">
      <vt:lpstr>Arial</vt:lpstr>
      <vt:lpstr>Calibri</vt:lpstr>
      <vt:lpstr>Calibri Light</vt:lpstr>
      <vt:lpstr>Times New Roman</vt:lpstr>
      <vt:lpstr>Office Theme</vt:lpstr>
      <vt:lpstr>Bapuji Educational Association(R)  BAPUJI INSTITUTE OF ENGINEERING AND TECHNOLOGY  Department of Electronics and Communication Engineering 2025-26  Phase 2 Project Work Final Presentation IoT Based School Bus Management Using RFID Project associates </vt:lpstr>
      <vt:lpstr>PowerPoint Presentation</vt:lpstr>
      <vt:lpstr>Course Objectives:</vt:lpstr>
      <vt:lpstr>FLOW OF PRESENTATION</vt:lpstr>
      <vt:lpstr>INTRODUCTION</vt:lpstr>
      <vt:lpstr>Literature Survey</vt:lpstr>
      <vt:lpstr>PowerPoint Presentation</vt:lpstr>
      <vt:lpstr>Problem Statement</vt:lpstr>
      <vt:lpstr>Objectives</vt:lpstr>
      <vt:lpstr>Block Diagram</vt:lpstr>
      <vt:lpstr>Methodology</vt:lpstr>
      <vt:lpstr>Flow Chart</vt:lpstr>
      <vt:lpstr>Circuit Diagram</vt:lpstr>
      <vt:lpstr>Hardware Requirements</vt:lpstr>
      <vt:lpstr>PowerPoint Presentation</vt:lpstr>
      <vt:lpstr>PowerPoint Presentation</vt:lpstr>
      <vt:lpstr>PowerPoint Presentation</vt:lpstr>
      <vt:lpstr>PowerPoint Presentation</vt:lpstr>
      <vt:lpstr>SOFTWARE REQUIREMENTS </vt:lpstr>
      <vt:lpstr>Applications</vt:lpstr>
      <vt:lpstr>Limitations</vt:lpstr>
      <vt:lpstr>Result &amp; Reflection</vt:lpstr>
      <vt:lpstr>PowerPoint Presentation</vt:lpstr>
      <vt:lpstr>PowerPoint Presentation</vt:lpstr>
      <vt:lpstr>Conclusion</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sanjaysheshagiri9@gmail.com</dc:creator>
  <cp:lastModifiedBy>sanjaysheshagiri9@gmail.com</cp:lastModifiedBy>
  <cp:revision>38</cp:revision>
  <dcterms:created xsi:type="dcterms:W3CDTF">2025-05-01T17:46:23Z</dcterms:created>
  <dcterms:modified xsi:type="dcterms:W3CDTF">2025-12-04T14:45:48Z</dcterms:modified>
</cp:coreProperties>
</file>